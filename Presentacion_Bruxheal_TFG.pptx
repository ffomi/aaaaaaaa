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4FBF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alpha val="0"/>
              </a:srgbClr>
            </a:solidFill>
            <a:prstDash val="solid"/>
          </a:ln>
        </p:spPr>
      </p:sp>
      <p:pic>
        <p:nvPicPr>
          <p:cNvPr id="3" name="Image 0" descr="/mnt/data/ppt_assets/title_crop.jpg">    </p:cNvPr>
          <p:cNvPicPr>
            <a:picLocks noChangeAspect="1"/>
          </p:cNvPicPr>
          <p:nvPr/>
        </p:nvPicPr>
        <p:blipFill>
          <a:blip r:embed="rId1"/>
          <a:stretch>
            <a:fillRect/>
          </a:stretch>
        </p:blipFill>
        <p:spPr>
          <a:xfrm>
            <a:off x="6263640" y="0"/>
            <a:ext cx="5925312" cy="6858000"/>
          </a:xfrm>
          <a:prstGeom prst="rect">
            <a:avLst/>
          </a:prstGeom>
        </p:spPr>
      </p:pic>
      <p:sp>
        <p:nvSpPr>
          <p:cNvPr id="4" name="Shape 1"/>
          <p:cNvSpPr/>
          <p:nvPr/>
        </p:nvSpPr>
        <p:spPr>
          <a:xfrm>
            <a:off x="6080760" y="0"/>
            <a:ext cx="109728" cy="6858000"/>
          </a:xfrm>
          <a:prstGeom prst="rect">
            <a:avLst/>
          </a:prstGeom>
          <a:solidFill>
            <a:srgbClr val="00A6B4"/>
          </a:solidFill>
          <a:ln w="12700">
            <a:solidFill>
              <a:srgbClr val="00A6B4">
                <a:alpha val="0"/>
              </a:srgbClr>
            </a:solidFill>
            <a:prstDash val="solid"/>
          </a:ln>
        </p:spPr>
      </p:sp>
      <p:sp>
        <p:nvSpPr>
          <p:cNvPr id="5" name="Text 2"/>
          <p:cNvSpPr/>
          <p:nvPr/>
        </p:nvSpPr>
        <p:spPr>
          <a:xfrm>
            <a:off x="685800" y="685800"/>
            <a:ext cx="4983480" cy="54864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BRUXHEAL</a:t>
            </a:r>
            <a:endParaRPr lang="en-US" sz="4200" dirty="0"/>
          </a:p>
        </p:txBody>
      </p:sp>
      <p:sp>
        <p:nvSpPr>
          <p:cNvPr id="6" name="Shape 3"/>
          <p:cNvSpPr/>
          <p:nvPr/>
        </p:nvSpPr>
        <p:spPr>
          <a:xfrm>
            <a:off x="685800" y="1325880"/>
            <a:ext cx="1280160" cy="73152"/>
          </a:xfrm>
          <a:prstGeom prst="rect">
            <a:avLst/>
          </a:prstGeom>
          <a:solidFill>
            <a:srgbClr val="00A6B4"/>
          </a:solidFill>
          <a:ln w="12700">
            <a:solidFill>
              <a:srgbClr val="00A6B4">
                <a:alpha val="0"/>
              </a:srgbClr>
            </a:solidFill>
            <a:prstDash val="solid"/>
          </a:ln>
        </p:spPr>
      </p:sp>
      <p:sp>
        <p:nvSpPr>
          <p:cNvPr id="7" name="Text 4"/>
          <p:cNvSpPr/>
          <p:nvPr/>
        </p:nvSpPr>
        <p:spPr>
          <a:xfrm>
            <a:off x="685800" y="1691640"/>
            <a:ext cx="5029200" cy="12801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rial" pitchFamily="34" charset="0"/>
                <a:ea typeface="Arial" pitchFamily="34" charset="-122"/>
                <a:cs typeface="Arial" pitchFamily="34" charset="-120"/>
              </a:rPr>
              <a:t>Aplicación para el tratamiento y seguimiento de pacientes con bruxismo</a:t>
            </a:r>
            <a:endParaRPr lang="en-US" sz="2800" dirty="0"/>
          </a:p>
        </p:txBody>
      </p:sp>
      <p:sp>
        <p:nvSpPr>
          <p:cNvPr id="8" name="Text 5"/>
          <p:cNvSpPr/>
          <p:nvPr/>
        </p:nvSpPr>
        <p:spPr>
          <a:xfrm>
            <a:off x="685800" y="4160520"/>
            <a:ext cx="4800600" cy="320040"/>
          </a:xfrm>
          <a:prstGeom prst="rect">
            <a:avLst/>
          </a:prstGeom>
          <a:noFill/>
          <a:ln/>
        </p:spPr>
        <p:txBody>
          <a:bodyPr wrap="square" lIns="0" tIns="0" rIns="0" bIns="0" rtlCol="0" anchor="ctr"/>
          <a:lstStyle/>
          <a:p>
            <a:pPr indent="0" marL="0">
              <a:buNone/>
            </a:pPr>
            <a:r>
              <a:rPr lang="en-US" sz="2400" dirty="0">
                <a:solidFill>
                  <a:srgbClr val="E7F5F7"/>
                </a:solidFill>
                <a:latin typeface="Arial" pitchFamily="34" charset="0"/>
                <a:ea typeface="Arial" pitchFamily="34" charset="-122"/>
                <a:cs typeface="Arial" pitchFamily="34" charset="-120"/>
              </a:rPr>
              <a:t>CFGS Desarrollo de Aplicaciones Web</a:t>
            </a:r>
            <a:endParaRPr lang="en-US" sz="2400" dirty="0"/>
          </a:p>
        </p:txBody>
      </p:sp>
      <p:sp>
        <p:nvSpPr>
          <p:cNvPr id="9" name="Text 6"/>
          <p:cNvSpPr/>
          <p:nvPr/>
        </p:nvSpPr>
        <p:spPr>
          <a:xfrm>
            <a:off x="685800" y="4617720"/>
            <a:ext cx="4800600" cy="320040"/>
          </a:xfrm>
          <a:prstGeom prst="rect">
            <a:avLst/>
          </a:prstGeom>
          <a:noFill/>
          <a:ln/>
        </p:spPr>
        <p:txBody>
          <a:bodyPr wrap="square" lIns="0" tIns="0" rIns="0" bIns="0" rtlCol="0" anchor="ctr"/>
          <a:lstStyle/>
          <a:p>
            <a:pPr indent="0" marL="0">
              <a:buNone/>
            </a:pPr>
            <a:r>
              <a:rPr lang="en-US" sz="2400" dirty="0">
                <a:solidFill>
                  <a:srgbClr val="E7F5F7"/>
                </a:solidFill>
                <a:latin typeface="Arial" pitchFamily="34" charset="0"/>
                <a:ea typeface="Arial" pitchFamily="34" charset="-122"/>
                <a:cs typeface="Arial" pitchFamily="34" charset="-120"/>
              </a:rPr>
              <a:t>Francisco Bermúdez Fominaya</a:t>
            </a:r>
            <a:endParaRPr lang="en-US" sz="2400" dirty="0"/>
          </a:p>
        </p:txBody>
      </p:sp>
      <p:sp>
        <p:nvSpPr>
          <p:cNvPr id="10" name="Text 7"/>
          <p:cNvSpPr/>
          <p:nvPr/>
        </p:nvSpPr>
        <p:spPr>
          <a:xfrm>
            <a:off x="685800" y="5047488"/>
            <a:ext cx="4800600" cy="320040"/>
          </a:xfrm>
          <a:prstGeom prst="rect">
            <a:avLst/>
          </a:prstGeom>
          <a:noFill/>
          <a:ln/>
        </p:spPr>
        <p:txBody>
          <a:bodyPr wrap="square" lIns="0" tIns="0" rIns="0" bIns="0" rtlCol="0" anchor="ctr"/>
          <a:lstStyle/>
          <a:p>
            <a:pPr indent="0" marL="0">
              <a:buNone/>
            </a:pPr>
            <a:r>
              <a:rPr lang="en-US" sz="2400" dirty="0">
                <a:solidFill>
                  <a:srgbClr val="E7F5F7"/>
                </a:solidFill>
                <a:latin typeface="Arial" pitchFamily="34" charset="0"/>
                <a:ea typeface="Arial" pitchFamily="34" charset="-122"/>
                <a:cs typeface="Arial" pitchFamily="34" charset="-120"/>
              </a:rPr>
              <a:t>Tutor: Alberto Casado Espeso</a:t>
            </a:r>
            <a:endParaRPr lang="en-US" sz="2400" dirty="0"/>
          </a:p>
        </p:txBody>
      </p:sp>
      <p:sp>
        <p:nvSpPr>
          <p:cNvPr id="11" name="Shape 8"/>
          <p:cNvSpPr/>
          <p:nvPr/>
        </p:nvSpPr>
        <p:spPr>
          <a:xfrm>
            <a:off x="7315200" y="5349240"/>
            <a:ext cx="3931920" cy="530352"/>
          </a:xfrm>
          <a:prstGeom prst="roundRect">
            <a:avLst>
              <a:gd name="adj" fmla="val 20690"/>
            </a:avLst>
          </a:prstGeom>
          <a:solidFill>
            <a:srgbClr val="00A6B4"/>
          </a:solidFill>
          <a:ln w="12700">
            <a:solidFill>
              <a:srgbClr val="00A6B4">
                <a:alpha val="0"/>
              </a:srgbClr>
            </a:solidFill>
            <a:prstDash val="solid"/>
          </a:ln>
        </p:spPr>
      </p:sp>
      <p:sp>
        <p:nvSpPr>
          <p:cNvPr id="12" name="Text 9"/>
          <p:cNvSpPr/>
          <p:nvPr/>
        </p:nvSpPr>
        <p:spPr>
          <a:xfrm>
            <a:off x="7452360" y="5477256"/>
            <a:ext cx="3657600" cy="256032"/>
          </a:xfrm>
          <a:prstGeom prst="rect">
            <a:avLst/>
          </a:prstGeom>
          <a:noFill/>
          <a:ln/>
        </p:spPr>
        <p:txBody>
          <a:bodyPr wrap="square" lIns="0" tIns="0" rIns="0" bIns="0" rtlCol="0" anchor="ctr">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DAW - Trabajo Final de Grado</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Estructura de la presentación</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Shape 5"/>
          <p:cNvSpPr/>
          <p:nvPr/>
        </p:nvSpPr>
        <p:spPr>
          <a:xfrm>
            <a:off x="822960" y="1508760"/>
            <a:ext cx="4983480" cy="512064"/>
          </a:xfrm>
          <a:prstGeom prst="roundRect">
            <a:avLst>
              <a:gd name="adj" fmla="val 14286"/>
            </a:avLst>
          </a:prstGeom>
          <a:solidFill>
            <a:srgbClr val="FFFFFF"/>
          </a:solidFill>
          <a:ln w="19050">
            <a:solidFill>
              <a:srgbClr val="00A6B4"/>
            </a:solidFill>
            <a:prstDash val="solid"/>
          </a:ln>
        </p:spPr>
      </p:sp>
      <p:sp>
        <p:nvSpPr>
          <p:cNvPr id="8" name="Shape 6"/>
          <p:cNvSpPr/>
          <p:nvPr/>
        </p:nvSpPr>
        <p:spPr>
          <a:xfrm>
            <a:off x="822960" y="1508760"/>
            <a:ext cx="82296" cy="512064"/>
          </a:xfrm>
          <a:prstGeom prst="rect">
            <a:avLst/>
          </a:prstGeom>
          <a:solidFill>
            <a:srgbClr val="00A6B4"/>
          </a:solidFill>
          <a:ln w="12700">
            <a:solidFill>
              <a:srgbClr val="00A6B4">
                <a:alpha val="0"/>
              </a:srgbClr>
            </a:solidFill>
            <a:prstDash val="solid"/>
          </a:ln>
        </p:spPr>
      </p:sp>
      <p:sp>
        <p:nvSpPr>
          <p:cNvPr id="9" name="Text 7"/>
          <p:cNvSpPr/>
          <p:nvPr/>
        </p:nvSpPr>
        <p:spPr>
          <a:xfrm>
            <a:off x="1051560" y="1645920"/>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Introducción</a:t>
            </a:r>
            <a:endParaRPr lang="en-US" sz="2400" dirty="0"/>
          </a:p>
        </p:txBody>
      </p:sp>
      <p:sp>
        <p:nvSpPr>
          <p:cNvPr id="10" name="Text 8"/>
          <p:cNvSpPr/>
          <p:nvPr/>
        </p:nvSpPr>
        <p:spPr>
          <a:xfrm>
            <a:off x="1051560" y="2075688"/>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1</a:t>
            </a:r>
            <a:endParaRPr lang="en-US" sz="2400" dirty="0"/>
          </a:p>
        </p:txBody>
      </p:sp>
      <p:sp>
        <p:nvSpPr>
          <p:cNvPr id="11" name="Shape 9"/>
          <p:cNvSpPr/>
          <p:nvPr/>
        </p:nvSpPr>
        <p:spPr>
          <a:xfrm>
            <a:off x="822960" y="2221992"/>
            <a:ext cx="4983480" cy="512064"/>
          </a:xfrm>
          <a:prstGeom prst="roundRect">
            <a:avLst>
              <a:gd name="adj" fmla="val 14286"/>
            </a:avLst>
          </a:prstGeom>
          <a:solidFill>
            <a:srgbClr val="FFFFFF"/>
          </a:solidFill>
          <a:ln w="19050">
            <a:solidFill>
              <a:srgbClr val="69C9D0"/>
            </a:solidFill>
            <a:prstDash val="solid"/>
          </a:ln>
        </p:spPr>
      </p:sp>
      <p:sp>
        <p:nvSpPr>
          <p:cNvPr id="12" name="Shape 10"/>
          <p:cNvSpPr/>
          <p:nvPr/>
        </p:nvSpPr>
        <p:spPr>
          <a:xfrm>
            <a:off x="822960" y="2221992"/>
            <a:ext cx="82296" cy="512064"/>
          </a:xfrm>
          <a:prstGeom prst="rect">
            <a:avLst/>
          </a:prstGeom>
          <a:solidFill>
            <a:srgbClr val="69C9D0"/>
          </a:solidFill>
          <a:ln w="12700">
            <a:solidFill>
              <a:srgbClr val="69C9D0">
                <a:alpha val="0"/>
              </a:srgbClr>
            </a:solidFill>
            <a:prstDash val="solid"/>
          </a:ln>
        </p:spPr>
      </p:sp>
      <p:sp>
        <p:nvSpPr>
          <p:cNvPr id="13" name="Text 11"/>
          <p:cNvSpPr/>
          <p:nvPr/>
        </p:nvSpPr>
        <p:spPr>
          <a:xfrm>
            <a:off x="1051560" y="2359152"/>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Estado del arte</a:t>
            </a:r>
            <a:endParaRPr lang="en-US" sz="2400" dirty="0"/>
          </a:p>
        </p:txBody>
      </p:sp>
      <p:sp>
        <p:nvSpPr>
          <p:cNvPr id="14" name="Text 12"/>
          <p:cNvSpPr/>
          <p:nvPr/>
        </p:nvSpPr>
        <p:spPr>
          <a:xfrm>
            <a:off x="1051560" y="2788920"/>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2</a:t>
            </a:r>
            <a:endParaRPr lang="en-US" sz="2400" dirty="0"/>
          </a:p>
        </p:txBody>
      </p:sp>
      <p:sp>
        <p:nvSpPr>
          <p:cNvPr id="15" name="Shape 13"/>
          <p:cNvSpPr/>
          <p:nvPr/>
        </p:nvSpPr>
        <p:spPr>
          <a:xfrm>
            <a:off x="822960" y="2935224"/>
            <a:ext cx="4983480" cy="512064"/>
          </a:xfrm>
          <a:prstGeom prst="roundRect">
            <a:avLst>
              <a:gd name="adj" fmla="val 14286"/>
            </a:avLst>
          </a:prstGeom>
          <a:solidFill>
            <a:srgbClr val="FFFFFF"/>
          </a:solidFill>
          <a:ln w="19050">
            <a:solidFill>
              <a:srgbClr val="00A6B4"/>
            </a:solidFill>
            <a:prstDash val="solid"/>
          </a:ln>
        </p:spPr>
      </p:sp>
      <p:sp>
        <p:nvSpPr>
          <p:cNvPr id="16" name="Shape 14"/>
          <p:cNvSpPr/>
          <p:nvPr/>
        </p:nvSpPr>
        <p:spPr>
          <a:xfrm>
            <a:off x="822960" y="2935224"/>
            <a:ext cx="82296" cy="512064"/>
          </a:xfrm>
          <a:prstGeom prst="rect">
            <a:avLst/>
          </a:prstGeom>
          <a:solidFill>
            <a:srgbClr val="00A6B4"/>
          </a:solidFill>
          <a:ln w="12700">
            <a:solidFill>
              <a:srgbClr val="00A6B4">
                <a:alpha val="0"/>
              </a:srgbClr>
            </a:solidFill>
            <a:prstDash val="solid"/>
          </a:ln>
        </p:spPr>
      </p:sp>
      <p:sp>
        <p:nvSpPr>
          <p:cNvPr id="17" name="Text 15"/>
          <p:cNvSpPr/>
          <p:nvPr/>
        </p:nvSpPr>
        <p:spPr>
          <a:xfrm>
            <a:off x="1051560" y="3072384"/>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Metodología</a:t>
            </a:r>
            <a:endParaRPr lang="en-US" sz="2400" dirty="0"/>
          </a:p>
        </p:txBody>
      </p:sp>
      <p:sp>
        <p:nvSpPr>
          <p:cNvPr id="18" name="Text 16"/>
          <p:cNvSpPr/>
          <p:nvPr/>
        </p:nvSpPr>
        <p:spPr>
          <a:xfrm>
            <a:off x="1051560" y="3502152"/>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3</a:t>
            </a:r>
            <a:endParaRPr lang="en-US" sz="2400" dirty="0"/>
          </a:p>
        </p:txBody>
      </p:sp>
      <p:sp>
        <p:nvSpPr>
          <p:cNvPr id="19" name="Shape 17"/>
          <p:cNvSpPr/>
          <p:nvPr/>
        </p:nvSpPr>
        <p:spPr>
          <a:xfrm>
            <a:off x="822960" y="3648456"/>
            <a:ext cx="4983480" cy="512064"/>
          </a:xfrm>
          <a:prstGeom prst="roundRect">
            <a:avLst>
              <a:gd name="adj" fmla="val 14286"/>
            </a:avLst>
          </a:prstGeom>
          <a:solidFill>
            <a:srgbClr val="FFFFFF"/>
          </a:solidFill>
          <a:ln w="19050">
            <a:solidFill>
              <a:srgbClr val="69C9D0"/>
            </a:solidFill>
            <a:prstDash val="solid"/>
          </a:ln>
        </p:spPr>
      </p:sp>
      <p:sp>
        <p:nvSpPr>
          <p:cNvPr id="20" name="Shape 18"/>
          <p:cNvSpPr/>
          <p:nvPr/>
        </p:nvSpPr>
        <p:spPr>
          <a:xfrm>
            <a:off x="822960" y="3648456"/>
            <a:ext cx="82296" cy="512064"/>
          </a:xfrm>
          <a:prstGeom prst="rect">
            <a:avLst/>
          </a:prstGeom>
          <a:solidFill>
            <a:srgbClr val="69C9D0"/>
          </a:solidFill>
          <a:ln w="12700">
            <a:solidFill>
              <a:srgbClr val="69C9D0">
                <a:alpha val="0"/>
              </a:srgbClr>
            </a:solidFill>
            <a:prstDash val="solid"/>
          </a:ln>
        </p:spPr>
      </p:sp>
      <p:sp>
        <p:nvSpPr>
          <p:cNvPr id="21" name="Text 19"/>
          <p:cNvSpPr/>
          <p:nvPr/>
        </p:nvSpPr>
        <p:spPr>
          <a:xfrm>
            <a:off x="1051560" y="3785616"/>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Tecnologías y herramientas</a:t>
            </a:r>
            <a:endParaRPr lang="en-US" sz="2400" dirty="0"/>
          </a:p>
        </p:txBody>
      </p:sp>
      <p:sp>
        <p:nvSpPr>
          <p:cNvPr id="22" name="Text 20"/>
          <p:cNvSpPr/>
          <p:nvPr/>
        </p:nvSpPr>
        <p:spPr>
          <a:xfrm>
            <a:off x="1051560" y="4215384"/>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4</a:t>
            </a:r>
            <a:endParaRPr lang="en-US" sz="2400" dirty="0"/>
          </a:p>
        </p:txBody>
      </p:sp>
      <p:sp>
        <p:nvSpPr>
          <p:cNvPr id="23" name="Shape 21"/>
          <p:cNvSpPr/>
          <p:nvPr/>
        </p:nvSpPr>
        <p:spPr>
          <a:xfrm>
            <a:off x="822960" y="4361688"/>
            <a:ext cx="4983480" cy="512064"/>
          </a:xfrm>
          <a:prstGeom prst="roundRect">
            <a:avLst>
              <a:gd name="adj" fmla="val 14286"/>
            </a:avLst>
          </a:prstGeom>
          <a:solidFill>
            <a:srgbClr val="FFFFFF"/>
          </a:solidFill>
          <a:ln w="19050">
            <a:solidFill>
              <a:srgbClr val="00A6B4"/>
            </a:solidFill>
            <a:prstDash val="solid"/>
          </a:ln>
        </p:spPr>
      </p:sp>
      <p:sp>
        <p:nvSpPr>
          <p:cNvPr id="24" name="Shape 22"/>
          <p:cNvSpPr/>
          <p:nvPr/>
        </p:nvSpPr>
        <p:spPr>
          <a:xfrm>
            <a:off x="822960" y="4361688"/>
            <a:ext cx="82296" cy="512064"/>
          </a:xfrm>
          <a:prstGeom prst="rect">
            <a:avLst/>
          </a:prstGeom>
          <a:solidFill>
            <a:srgbClr val="00A6B4"/>
          </a:solidFill>
          <a:ln w="12700">
            <a:solidFill>
              <a:srgbClr val="00A6B4">
                <a:alpha val="0"/>
              </a:srgbClr>
            </a:solidFill>
            <a:prstDash val="solid"/>
          </a:ln>
        </p:spPr>
      </p:sp>
      <p:sp>
        <p:nvSpPr>
          <p:cNvPr id="25" name="Text 23"/>
          <p:cNvSpPr/>
          <p:nvPr/>
        </p:nvSpPr>
        <p:spPr>
          <a:xfrm>
            <a:off x="1051560" y="4498848"/>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Planificación y contexto</a:t>
            </a:r>
            <a:endParaRPr lang="en-US" sz="2400" dirty="0"/>
          </a:p>
        </p:txBody>
      </p:sp>
      <p:sp>
        <p:nvSpPr>
          <p:cNvPr id="26" name="Text 24"/>
          <p:cNvSpPr/>
          <p:nvPr/>
        </p:nvSpPr>
        <p:spPr>
          <a:xfrm>
            <a:off x="1051560" y="4928616"/>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5</a:t>
            </a:r>
            <a:endParaRPr lang="en-US" sz="2400" dirty="0"/>
          </a:p>
        </p:txBody>
      </p:sp>
      <p:sp>
        <p:nvSpPr>
          <p:cNvPr id="27" name="Shape 25"/>
          <p:cNvSpPr/>
          <p:nvPr/>
        </p:nvSpPr>
        <p:spPr>
          <a:xfrm>
            <a:off x="822960" y="5074920"/>
            <a:ext cx="4983480" cy="512064"/>
          </a:xfrm>
          <a:prstGeom prst="roundRect">
            <a:avLst>
              <a:gd name="adj" fmla="val 14286"/>
            </a:avLst>
          </a:prstGeom>
          <a:solidFill>
            <a:srgbClr val="FFFFFF"/>
          </a:solidFill>
          <a:ln w="19050">
            <a:solidFill>
              <a:srgbClr val="69C9D0"/>
            </a:solidFill>
            <a:prstDash val="solid"/>
          </a:ln>
        </p:spPr>
      </p:sp>
      <p:sp>
        <p:nvSpPr>
          <p:cNvPr id="28" name="Shape 26"/>
          <p:cNvSpPr/>
          <p:nvPr/>
        </p:nvSpPr>
        <p:spPr>
          <a:xfrm>
            <a:off x="822960" y="5074920"/>
            <a:ext cx="82296" cy="512064"/>
          </a:xfrm>
          <a:prstGeom prst="rect">
            <a:avLst/>
          </a:prstGeom>
          <a:solidFill>
            <a:srgbClr val="69C9D0"/>
          </a:solidFill>
          <a:ln w="12700">
            <a:solidFill>
              <a:srgbClr val="69C9D0">
                <a:alpha val="0"/>
              </a:srgbClr>
            </a:solidFill>
            <a:prstDash val="solid"/>
          </a:ln>
        </p:spPr>
      </p:sp>
      <p:sp>
        <p:nvSpPr>
          <p:cNvPr id="29" name="Text 27"/>
          <p:cNvSpPr/>
          <p:nvPr/>
        </p:nvSpPr>
        <p:spPr>
          <a:xfrm>
            <a:off x="1051560" y="5212080"/>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Análisis del proyecto</a:t>
            </a:r>
            <a:endParaRPr lang="en-US" sz="2400" dirty="0"/>
          </a:p>
        </p:txBody>
      </p:sp>
      <p:sp>
        <p:nvSpPr>
          <p:cNvPr id="30" name="Text 28"/>
          <p:cNvSpPr/>
          <p:nvPr/>
        </p:nvSpPr>
        <p:spPr>
          <a:xfrm>
            <a:off x="1051560" y="5641848"/>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6</a:t>
            </a:r>
            <a:endParaRPr lang="en-US" sz="2400" dirty="0"/>
          </a:p>
        </p:txBody>
      </p:sp>
      <p:sp>
        <p:nvSpPr>
          <p:cNvPr id="31" name="Shape 29"/>
          <p:cNvSpPr/>
          <p:nvPr/>
        </p:nvSpPr>
        <p:spPr>
          <a:xfrm>
            <a:off x="6400800" y="1508760"/>
            <a:ext cx="4983480" cy="512064"/>
          </a:xfrm>
          <a:prstGeom prst="roundRect">
            <a:avLst>
              <a:gd name="adj" fmla="val 14286"/>
            </a:avLst>
          </a:prstGeom>
          <a:solidFill>
            <a:srgbClr val="FFFFFF"/>
          </a:solidFill>
          <a:ln w="19050">
            <a:solidFill>
              <a:srgbClr val="00A6B4"/>
            </a:solidFill>
            <a:prstDash val="solid"/>
          </a:ln>
        </p:spPr>
      </p:sp>
      <p:sp>
        <p:nvSpPr>
          <p:cNvPr id="32" name="Shape 30"/>
          <p:cNvSpPr/>
          <p:nvPr/>
        </p:nvSpPr>
        <p:spPr>
          <a:xfrm>
            <a:off x="6400800" y="1508760"/>
            <a:ext cx="82296" cy="512064"/>
          </a:xfrm>
          <a:prstGeom prst="rect">
            <a:avLst/>
          </a:prstGeom>
          <a:solidFill>
            <a:srgbClr val="00A6B4"/>
          </a:solidFill>
          <a:ln w="12700">
            <a:solidFill>
              <a:srgbClr val="00A6B4">
                <a:alpha val="0"/>
              </a:srgbClr>
            </a:solidFill>
            <a:prstDash val="solid"/>
          </a:ln>
        </p:spPr>
      </p:sp>
      <p:sp>
        <p:nvSpPr>
          <p:cNvPr id="33" name="Text 31"/>
          <p:cNvSpPr/>
          <p:nvPr/>
        </p:nvSpPr>
        <p:spPr>
          <a:xfrm>
            <a:off x="6629400" y="1645920"/>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Diseño del proyecto</a:t>
            </a:r>
            <a:endParaRPr lang="en-US" sz="2400" dirty="0"/>
          </a:p>
        </p:txBody>
      </p:sp>
      <p:sp>
        <p:nvSpPr>
          <p:cNvPr id="34" name="Text 32"/>
          <p:cNvSpPr/>
          <p:nvPr/>
        </p:nvSpPr>
        <p:spPr>
          <a:xfrm>
            <a:off x="6629400" y="2075688"/>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7</a:t>
            </a:r>
            <a:endParaRPr lang="en-US" sz="2400" dirty="0"/>
          </a:p>
        </p:txBody>
      </p:sp>
      <p:sp>
        <p:nvSpPr>
          <p:cNvPr id="35" name="Shape 33"/>
          <p:cNvSpPr/>
          <p:nvPr/>
        </p:nvSpPr>
        <p:spPr>
          <a:xfrm>
            <a:off x="6400800" y="2221992"/>
            <a:ext cx="4983480" cy="512064"/>
          </a:xfrm>
          <a:prstGeom prst="roundRect">
            <a:avLst>
              <a:gd name="adj" fmla="val 14286"/>
            </a:avLst>
          </a:prstGeom>
          <a:solidFill>
            <a:srgbClr val="FFFFFF"/>
          </a:solidFill>
          <a:ln w="19050">
            <a:solidFill>
              <a:srgbClr val="69C9D0"/>
            </a:solidFill>
            <a:prstDash val="solid"/>
          </a:ln>
        </p:spPr>
      </p:sp>
      <p:sp>
        <p:nvSpPr>
          <p:cNvPr id="36" name="Shape 34"/>
          <p:cNvSpPr/>
          <p:nvPr/>
        </p:nvSpPr>
        <p:spPr>
          <a:xfrm>
            <a:off x="6400800" y="2221992"/>
            <a:ext cx="82296" cy="512064"/>
          </a:xfrm>
          <a:prstGeom prst="rect">
            <a:avLst/>
          </a:prstGeom>
          <a:solidFill>
            <a:srgbClr val="69C9D0"/>
          </a:solidFill>
          <a:ln w="12700">
            <a:solidFill>
              <a:srgbClr val="69C9D0">
                <a:alpha val="0"/>
              </a:srgbClr>
            </a:solidFill>
            <a:prstDash val="solid"/>
          </a:ln>
        </p:spPr>
      </p:sp>
      <p:sp>
        <p:nvSpPr>
          <p:cNvPr id="37" name="Text 35"/>
          <p:cNvSpPr/>
          <p:nvPr/>
        </p:nvSpPr>
        <p:spPr>
          <a:xfrm>
            <a:off x="6629400" y="2359152"/>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Despliegue y pruebas</a:t>
            </a:r>
            <a:endParaRPr lang="en-US" sz="2400" dirty="0"/>
          </a:p>
        </p:txBody>
      </p:sp>
      <p:sp>
        <p:nvSpPr>
          <p:cNvPr id="38" name="Text 36"/>
          <p:cNvSpPr/>
          <p:nvPr/>
        </p:nvSpPr>
        <p:spPr>
          <a:xfrm>
            <a:off x="6629400" y="2788920"/>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8</a:t>
            </a:r>
            <a:endParaRPr lang="en-US" sz="2400" dirty="0"/>
          </a:p>
        </p:txBody>
      </p:sp>
      <p:sp>
        <p:nvSpPr>
          <p:cNvPr id="39" name="Shape 37"/>
          <p:cNvSpPr/>
          <p:nvPr/>
        </p:nvSpPr>
        <p:spPr>
          <a:xfrm>
            <a:off x="6400800" y="2935224"/>
            <a:ext cx="4983480" cy="512064"/>
          </a:xfrm>
          <a:prstGeom prst="roundRect">
            <a:avLst>
              <a:gd name="adj" fmla="val 14286"/>
            </a:avLst>
          </a:prstGeom>
          <a:solidFill>
            <a:srgbClr val="FFFFFF"/>
          </a:solidFill>
          <a:ln w="19050">
            <a:solidFill>
              <a:srgbClr val="00A6B4"/>
            </a:solidFill>
            <a:prstDash val="solid"/>
          </a:ln>
        </p:spPr>
      </p:sp>
      <p:sp>
        <p:nvSpPr>
          <p:cNvPr id="40" name="Shape 38"/>
          <p:cNvSpPr/>
          <p:nvPr/>
        </p:nvSpPr>
        <p:spPr>
          <a:xfrm>
            <a:off x="6400800" y="2935224"/>
            <a:ext cx="82296" cy="512064"/>
          </a:xfrm>
          <a:prstGeom prst="rect">
            <a:avLst/>
          </a:prstGeom>
          <a:solidFill>
            <a:srgbClr val="00A6B4"/>
          </a:solidFill>
          <a:ln w="12700">
            <a:solidFill>
              <a:srgbClr val="00A6B4">
                <a:alpha val="0"/>
              </a:srgbClr>
            </a:solidFill>
            <a:prstDash val="solid"/>
          </a:ln>
        </p:spPr>
      </p:sp>
      <p:sp>
        <p:nvSpPr>
          <p:cNvPr id="41" name="Text 39"/>
          <p:cNvSpPr/>
          <p:nvPr/>
        </p:nvSpPr>
        <p:spPr>
          <a:xfrm>
            <a:off x="6629400" y="3072384"/>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Conclusiones</a:t>
            </a:r>
            <a:endParaRPr lang="en-US" sz="2400" dirty="0"/>
          </a:p>
        </p:txBody>
      </p:sp>
      <p:sp>
        <p:nvSpPr>
          <p:cNvPr id="42" name="Text 40"/>
          <p:cNvSpPr/>
          <p:nvPr/>
        </p:nvSpPr>
        <p:spPr>
          <a:xfrm>
            <a:off x="6629400" y="3502152"/>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9</a:t>
            </a:r>
            <a:endParaRPr lang="en-US" sz="2400" dirty="0"/>
          </a:p>
        </p:txBody>
      </p:sp>
      <p:sp>
        <p:nvSpPr>
          <p:cNvPr id="43" name="Shape 41"/>
          <p:cNvSpPr/>
          <p:nvPr/>
        </p:nvSpPr>
        <p:spPr>
          <a:xfrm>
            <a:off x="6400800" y="3648456"/>
            <a:ext cx="4983480" cy="512064"/>
          </a:xfrm>
          <a:prstGeom prst="roundRect">
            <a:avLst>
              <a:gd name="adj" fmla="val 14286"/>
            </a:avLst>
          </a:prstGeom>
          <a:solidFill>
            <a:srgbClr val="FFFFFF"/>
          </a:solidFill>
          <a:ln w="19050">
            <a:solidFill>
              <a:srgbClr val="69C9D0"/>
            </a:solidFill>
            <a:prstDash val="solid"/>
          </a:ln>
        </p:spPr>
      </p:sp>
      <p:sp>
        <p:nvSpPr>
          <p:cNvPr id="44" name="Shape 42"/>
          <p:cNvSpPr/>
          <p:nvPr/>
        </p:nvSpPr>
        <p:spPr>
          <a:xfrm>
            <a:off x="6400800" y="3648456"/>
            <a:ext cx="82296" cy="512064"/>
          </a:xfrm>
          <a:prstGeom prst="rect">
            <a:avLst/>
          </a:prstGeom>
          <a:solidFill>
            <a:srgbClr val="69C9D0"/>
          </a:solidFill>
          <a:ln w="12700">
            <a:solidFill>
              <a:srgbClr val="69C9D0">
                <a:alpha val="0"/>
              </a:srgbClr>
            </a:solidFill>
            <a:prstDash val="solid"/>
          </a:ln>
        </p:spPr>
      </p:sp>
      <p:sp>
        <p:nvSpPr>
          <p:cNvPr id="45" name="Text 43"/>
          <p:cNvSpPr/>
          <p:nvPr/>
        </p:nvSpPr>
        <p:spPr>
          <a:xfrm>
            <a:off x="6629400" y="3785616"/>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Vías futuras</a:t>
            </a:r>
            <a:endParaRPr lang="en-US" sz="2400" dirty="0"/>
          </a:p>
        </p:txBody>
      </p:sp>
      <p:sp>
        <p:nvSpPr>
          <p:cNvPr id="46" name="Text 44"/>
          <p:cNvSpPr/>
          <p:nvPr/>
        </p:nvSpPr>
        <p:spPr>
          <a:xfrm>
            <a:off x="6629400" y="4215384"/>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10</a:t>
            </a:r>
            <a:endParaRPr lang="en-US" sz="2400" dirty="0"/>
          </a:p>
        </p:txBody>
      </p:sp>
      <p:sp>
        <p:nvSpPr>
          <p:cNvPr id="47" name="Shape 45"/>
          <p:cNvSpPr/>
          <p:nvPr/>
        </p:nvSpPr>
        <p:spPr>
          <a:xfrm>
            <a:off x="6400800" y="4361688"/>
            <a:ext cx="4983480" cy="512064"/>
          </a:xfrm>
          <a:prstGeom prst="roundRect">
            <a:avLst>
              <a:gd name="adj" fmla="val 14286"/>
            </a:avLst>
          </a:prstGeom>
          <a:solidFill>
            <a:srgbClr val="FFFFFF"/>
          </a:solidFill>
          <a:ln w="19050">
            <a:solidFill>
              <a:srgbClr val="00A6B4"/>
            </a:solidFill>
            <a:prstDash val="solid"/>
          </a:ln>
        </p:spPr>
      </p:sp>
      <p:sp>
        <p:nvSpPr>
          <p:cNvPr id="48" name="Shape 46"/>
          <p:cNvSpPr/>
          <p:nvPr/>
        </p:nvSpPr>
        <p:spPr>
          <a:xfrm>
            <a:off x="6400800" y="4361688"/>
            <a:ext cx="82296" cy="512064"/>
          </a:xfrm>
          <a:prstGeom prst="rect">
            <a:avLst/>
          </a:prstGeom>
          <a:solidFill>
            <a:srgbClr val="00A6B4"/>
          </a:solidFill>
          <a:ln w="12700">
            <a:solidFill>
              <a:srgbClr val="00A6B4">
                <a:alpha val="0"/>
              </a:srgbClr>
            </a:solidFill>
            <a:prstDash val="solid"/>
          </a:ln>
        </p:spPr>
      </p:sp>
      <p:sp>
        <p:nvSpPr>
          <p:cNvPr id="49" name="Text 47"/>
          <p:cNvSpPr/>
          <p:nvPr/>
        </p:nvSpPr>
        <p:spPr>
          <a:xfrm>
            <a:off x="6629400" y="4498848"/>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Bibliografía</a:t>
            </a:r>
            <a:endParaRPr lang="en-US" sz="2400" dirty="0"/>
          </a:p>
        </p:txBody>
      </p:sp>
      <p:sp>
        <p:nvSpPr>
          <p:cNvPr id="50" name="Text 48"/>
          <p:cNvSpPr/>
          <p:nvPr/>
        </p:nvSpPr>
        <p:spPr>
          <a:xfrm>
            <a:off x="6629400" y="4928616"/>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11</a:t>
            </a:r>
            <a:endParaRPr lang="en-US" sz="2400" dirty="0"/>
          </a:p>
        </p:txBody>
      </p:sp>
      <p:sp>
        <p:nvSpPr>
          <p:cNvPr id="51" name="Shape 49"/>
          <p:cNvSpPr/>
          <p:nvPr/>
        </p:nvSpPr>
        <p:spPr>
          <a:xfrm>
            <a:off x="6400800" y="5074920"/>
            <a:ext cx="4983480" cy="512064"/>
          </a:xfrm>
          <a:prstGeom prst="roundRect">
            <a:avLst>
              <a:gd name="adj" fmla="val 14286"/>
            </a:avLst>
          </a:prstGeom>
          <a:solidFill>
            <a:srgbClr val="FFFFFF"/>
          </a:solidFill>
          <a:ln w="19050">
            <a:solidFill>
              <a:srgbClr val="69C9D0"/>
            </a:solidFill>
            <a:prstDash val="solid"/>
          </a:ln>
        </p:spPr>
      </p:sp>
      <p:sp>
        <p:nvSpPr>
          <p:cNvPr id="52" name="Shape 50"/>
          <p:cNvSpPr/>
          <p:nvPr/>
        </p:nvSpPr>
        <p:spPr>
          <a:xfrm>
            <a:off x="6400800" y="5074920"/>
            <a:ext cx="82296" cy="512064"/>
          </a:xfrm>
          <a:prstGeom prst="rect">
            <a:avLst/>
          </a:prstGeom>
          <a:solidFill>
            <a:srgbClr val="69C9D0"/>
          </a:solidFill>
          <a:ln w="12700">
            <a:solidFill>
              <a:srgbClr val="69C9D0">
                <a:alpha val="0"/>
              </a:srgbClr>
            </a:solidFill>
            <a:prstDash val="solid"/>
          </a:ln>
        </p:spPr>
      </p:sp>
      <p:sp>
        <p:nvSpPr>
          <p:cNvPr id="53" name="Text 51"/>
          <p:cNvSpPr/>
          <p:nvPr/>
        </p:nvSpPr>
        <p:spPr>
          <a:xfrm>
            <a:off x="6629400" y="5212080"/>
            <a:ext cx="46177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Anexos</a:t>
            </a:r>
            <a:endParaRPr lang="en-US" sz="2400" dirty="0"/>
          </a:p>
        </p:txBody>
      </p:sp>
      <p:sp>
        <p:nvSpPr>
          <p:cNvPr id="54" name="Text 52"/>
          <p:cNvSpPr/>
          <p:nvPr/>
        </p:nvSpPr>
        <p:spPr>
          <a:xfrm>
            <a:off x="6629400" y="5641848"/>
            <a:ext cx="4617720" cy="-146304"/>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1. Introducción</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Una aplicación web para organizar el seguimiento básico de pacientes con bruxismo</a:t>
            </a:r>
            <a:endParaRPr lang="en-US" sz="2400" dirty="0"/>
          </a:p>
        </p:txBody>
      </p:sp>
      <p:pic>
        <p:nvPicPr>
          <p:cNvPr id="8" name="Image 0" descr="/mnt/data/docx_media/word/media/image2.jpeg">    </p:cNvPr>
          <p:cNvPicPr>
            <a:picLocks noChangeAspect="1"/>
          </p:cNvPicPr>
          <p:nvPr/>
        </p:nvPicPr>
        <p:blipFill>
          <a:blip r:embed="rId1"/>
          <a:srcRect l="5000" r="29217" t="5000" b="5000"/>
          <a:stretch/>
        </p:blipFill>
        <p:spPr>
          <a:xfrm>
            <a:off x="7360920" y="1417320"/>
            <a:ext cx="4160520" cy="3794760"/>
          </a:xfrm>
          <a:prstGeom prst="rect">
            <a:avLst/>
          </a:prstGeom>
        </p:spPr>
      </p:pic>
      <p:sp>
        <p:nvSpPr>
          <p:cNvPr id="9" name="Shape 6"/>
          <p:cNvSpPr/>
          <p:nvPr/>
        </p:nvSpPr>
        <p:spPr>
          <a:xfrm>
            <a:off x="777240" y="1682496"/>
            <a:ext cx="128016" cy="128016"/>
          </a:xfrm>
          <a:prstGeom prst="ellipse">
            <a:avLst/>
          </a:prstGeom>
          <a:solidFill>
            <a:srgbClr val="00A6B4"/>
          </a:solidFill>
          <a:ln w="12700">
            <a:solidFill>
              <a:srgbClr val="00A6B4">
                <a:alpha val="0"/>
              </a:srgbClr>
            </a:solidFill>
            <a:prstDash val="solid"/>
          </a:ln>
        </p:spPr>
      </p:sp>
      <p:sp>
        <p:nvSpPr>
          <p:cNvPr id="10" name="Text 7"/>
          <p:cNvSpPr/>
          <p:nvPr/>
        </p:nvSpPr>
        <p:spPr>
          <a:xfrm>
            <a:off x="1033272" y="1572768"/>
            <a:ext cx="6007608" cy="89154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Gestión de pacientes, citas, ejercicios y medicación asociada.</a:t>
            </a:r>
            <a:endParaRPr lang="en-US" sz="2600" dirty="0"/>
          </a:p>
        </p:txBody>
      </p:sp>
      <p:sp>
        <p:nvSpPr>
          <p:cNvPr id="11" name="Shape 8"/>
          <p:cNvSpPr/>
          <p:nvPr/>
        </p:nvSpPr>
        <p:spPr>
          <a:xfrm>
            <a:off x="777240" y="2619756"/>
            <a:ext cx="128016" cy="128016"/>
          </a:xfrm>
          <a:prstGeom prst="ellipse">
            <a:avLst/>
          </a:prstGeom>
          <a:solidFill>
            <a:srgbClr val="00A6B4"/>
          </a:solidFill>
          <a:ln w="12700">
            <a:solidFill>
              <a:srgbClr val="00A6B4">
                <a:alpha val="0"/>
              </a:srgbClr>
            </a:solidFill>
            <a:prstDash val="solid"/>
          </a:ln>
        </p:spPr>
      </p:sp>
      <p:sp>
        <p:nvSpPr>
          <p:cNvPr id="12" name="Text 9"/>
          <p:cNvSpPr/>
          <p:nvPr/>
        </p:nvSpPr>
        <p:spPr>
          <a:xfrm>
            <a:off x="1033272" y="2510028"/>
            <a:ext cx="6007608" cy="89154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Separación de perfiles: médico y paciente.</a:t>
            </a:r>
            <a:endParaRPr lang="en-US" sz="2600" dirty="0"/>
          </a:p>
        </p:txBody>
      </p:sp>
      <p:sp>
        <p:nvSpPr>
          <p:cNvPr id="13" name="Shape 10"/>
          <p:cNvSpPr/>
          <p:nvPr/>
        </p:nvSpPr>
        <p:spPr>
          <a:xfrm>
            <a:off x="777240" y="3557016"/>
            <a:ext cx="128016" cy="128016"/>
          </a:xfrm>
          <a:prstGeom prst="ellipse">
            <a:avLst/>
          </a:prstGeom>
          <a:solidFill>
            <a:srgbClr val="00A6B4"/>
          </a:solidFill>
          <a:ln w="12700">
            <a:solidFill>
              <a:srgbClr val="00A6B4">
                <a:alpha val="0"/>
              </a:srgbClr>
            </a:solidFill>
            <a:prstDash val="solid"/>
          </a:ln>
        </p:spPr>
      </p:sp>
      <p:sp>
        <p:nvSpPr>
          <p:cNvPr id="14" name="Text 11"/>
          <p:cNvSpPr/>
          <p:nvPr/>
        </p:nvSpPr>
        <p:spPr>
          <a:xfrm>
            <a:off x="1033272" y="3447288"/>
            <a:ext cx="6007608" cy="89154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Herramienta accesible desde navegador y orientada a consultas pequeñas.</a:t>
            </a:r>
            <a:endParaRPr lang="en-US" sz="2600" dirty="0"/>
          </a:p>
        </p:txBody>
      </p:sp>
      <p:sp>
        <p:nvSpPr>
          <p:cNvPr id="15" name="Shape 12"/>
          <p:cNvSpPr/>
          <p:nvPr/>
        </p:nvSpPr>
        <p:spPr>
          <a:xfrm>
            <a:off x="777240" y="4494276"/>
            <a:ext cx="128016" cy="128016"/>
          </a:xfrm>
          <a:prstGeom prst="ellipse">
            <a:avLst/>
          </a:prstGeom>
          <a:solidFill>
            <a:srgbClr val="00A6B4"/>
          </a:solidFill>
          <a:ln w="12700">
            <a:solidFill>
              <a:srgbClr val="00A6B4">
                <a:alpha val="0"/>
              </a:srgbClr>
            </a:solidFill>
            <a:prstDash val="solid"/>
          </a:ln>
        </p:spPr>
      </p:sp>
      <p:sp>
        <p:nvSpPr>
          <p:cNvPr id="16" name="Text 13"/>
          <p:cNvSpPr/>
          <p:nvPr/>
        </p:nvSpPr>
        <p:spPr>
          <a:xfrm>
            <a:off x="1033272" y="4384548"/>
            <a:ext cx="6007608" cy="89154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Proyecto académico: no sustituye a software clínico profesional.</a:t>
            </a:r>
            <a:endParaRPr lang="en-US" sz="2600" dirty="0"/>
          </a:p>
        </p:txBody>
      </p:sp>
      <p:sp>
        <p:nvSpPr>
          <p:cNvPr id="17" name="Shape 14"/>
          <p:cNvSpPr/>
          <p:nvPr/>
        </p:nvSpPr>
        <p:spPr>
          <a:xfrm>
            <a:off x="777240" y="5623560"/>
            <a:ext cx="2148840" cy="530352"/>
          </a:xfrm>
          <a:prstGeom prst="roundRect">
            <a:avLst>
              <a:gd name="adj" fmla="val 20690"/>
            </a:avLst>
          </a:prstGeom>
          <a:solidFill>
            <a:srgbClr val="00A6B4"/>
          </a:solidFill>
          <a:ln w="12700">
            <a:solidFill>
              <a:srgbClr val="00A6B4">
                <a:alpha val="0"/>
              </a:srgbClr>
            </a:solidFill>
            <a:prstDash val="solid"/>
          </a:ln>
        </p:spPr>
      </p:sp>
      <p:sp>
        <p:nvSpPr>
          <p:cNvPr id="18" name="Text 15"/>
          <p:cNvSpPr/>
          <p:nvPr/>
        </p:nvSpPr>
        <p:spPr>
          <a:xfrm>
            <a:off x="914400" y="5751576"/>
            <a:ext cx="1874520" cy="256032"/>
          </a:xfrm>
          <a:prstGeom prst="rect">
            <a:avLst/>
          </a:prstGeom>
          <a:noFill/>
          <a:ln/>
        </p:spPr>
        <p:txBody>
          <a:bodyPr wrap="square" lIns="0" tIns="0" rIns="0" bIns="0" rtlCol="0" anchor="ctr">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Problema concreto</a:t>
            </a:r>
            <a:endParaRPr lang="en-US" sz="2400" dirty="0"/>
          </a:p>
        </p:txBody>
      </p:sp>
      <p:sp>
        <p:nvSpPr>
          <p:cNvPr id="19" name="Shape 16"/>
          <p:cNvSpPr/>
          <p:nvPr/>
        </p:nvSpPr>
        <p:spPr>
          <a:xfrm>
            <a:off x="3154680" y="5623560"/>
            <a:ext cx="1828800" cy="530352"/>
          </a:xfrm>
          <a:prstGeom prst="roundRect">
            <a:avLst>
              <a:gd name="adj" fmla="val 20690"/>
            </a:avLst>
          </a:prstGeom>
          <a:solidFill>
            <a:srgbClr val="2CA58D"/>
          </a:solidFill>
          <a:ln w="12700">
            <a:solidFill>
              <a:srgbClr val="2CA58D">
                <a:alpha val="0"/>
              </a:srgbClr>
            </a:solidFill>
            <a:prstDash val="solid"/>
          </a:ln>
        </p:spPr>
      </p:sp>
      <p:sp>
        <p:nvSpPr>
          <p:cNvPr id="20" name="Text 17"/>
          <p:cNvSpPr/>
          <p:nvPr/>
        </p:nvSpPr>
        <p:spPr>
          <a:xfrm>
            <a:off x="3291840" y="5751576"/>
            <a:ext cx="1554480" cy="256032"/>
          </a:xfrm>
          <a:prstGeom prst="rect">
            <a:avLst/>
          </a:prstGeom>
          <a:noFill/>
          <a:ln/>
        </p:spPr>
        <p:txBody>
          <a:bodyPr wrap="square" lIns="0" tIns="0" rIns="0" bIns="0" rtlCol="0" anchor="ctr">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Solución web</a:t>
            </a:r>
            <a:endParaRPr lang="en-US" sz="2400" dirty="0"/>
          </a:p>
        </p:txBody>
      </p:sp>
      <p:sp>
        <p:nvSpPr>
          <p:cNvPr id="21" name="Shape 18"/>
          <p:cNvSpPr/>
          <p:nvPr/>
        </p:nvSpPr>
        <p:spPr>
          <a:xfrm>
            <a:off x="5257800" y="5623560"/>
            <a:ext cx="2286000" cy="530352"/>
          </a:xfrm>
          <a:prstGeom prst="roundRect">
            <a:avLst>
              <a:gd name="adj" fmla="val 20690"/>
            </a:avLst>
          </a:prstGeom>
          <a:solidFill>
            <a:srgbClr val="F2A900"/>
          </a:solidFill>
          <a:ln w="12700">
            <a:solidFill>
              <a:srgbClr val="F2A900">
                <a:alpha val="0"/>
              </a:srgbClr>
            </a:solidFill>
            <a:prstDash val="solid"/>
          </a:ln>
        </p:spPr>
      </p:sp>
      <p:sp>
        <p:nvSpPr>
          <p:cNvPr id="22" name="Text 19"/>
          <p:cNvSpPr/>
          <p:nvPr/>
        </p:nvSpPr>
        <p:spPr>
          <a:xfrm>
            <a:off x="5394960" y="5751576"/>
            <a:ext cx="2011680" cy="256032"/>
          </a:xfrm>
          <a:prstGeom prst="rect">
            <a:avLst/>
          </a:prstGeom>
          <a:noFill/>
          <a:ln/>
        </p:spPr>
        <p:txBody>
          <a:bodyPr wrap="square" lIns="0" tIns="0" rIns="0" bIns="0" rtlCol="0" anchor="ctr">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Seguimiento básico</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1.1. Motivación</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Por qué se eligió este proyecto</a:t>
            </a:r>
            <a:endParaRPr lang="en-US" sz="2400" dirty="0"/>
          </a:p>
        </p:txBody>
      </p:sp>
      <p:sp>
        <p:nvSpPr>
          <p:cNvPr id="8" name="Shape 6"/>
          <p:cNvSpPr/>
          <p:nvPr/>
        </p:nvSpPr>
        <p:spPr>
          <a:xfrm>
            <a:off x="822960" y="1463040"/>
            <a:ext cx="2423160" cy="1417320"/>
          </a:xfrm>
          <a:prstGeom prst="roundRect">
            <a:avLst>
              <a:gd name="adj" fmla="val 5161"/>
            </a:avLst>
          </a:prstGeom>
          <a:solidFill>
            <a:srgbClr val="FFFFFF"/>
          </a:solidFill>
          <a:ln w="12700">
            <a:solidFill>
              <a:srgbClr val="D6E4E8"/>
            </a:solidFill>
            <a:prstDash val="solid"/>
          </a:ln>
        </p:spPr>
      </p:sp>
      <p:sp>
        <p:nvSpPr>
          <p:cNvPr id="9" name="Text 7"/>
          <p:cNvSpPr/>
          <p:nvPr/>
        </p:nvSpPr>
        <p:spPr>
          <a:xfrm>
            <a:off x="960120" y="1572768"/>
            <a:ext cx="2148840" cy="595274"/>
          </a:xfrm>
          <a:prstGeom prst="rect">
            <a:avLst/>
          </a:prstGeom>
          <a:noFill/>
          <a:ln/>
        </p:spPr>
        <p:txBody>
          <a:bodyPr wrap="square" lIns="0" tIns="0" rIns="0" bIns="0" rtlCol="0" anchor="ctr">
            <a:normAutofit/>
          </a:bodyPr>
          <a:lstStyle/>
          <a:p>
            <a:pPr algn="ctr" indent="0" marL="0">
              <a:buNone/>
            </a:pPr>
            <a:r>
              <a:rPr lang="en-US" sz="3400" b="1" dirty="0">
                <a:solidFill>
                  <a:srgbClr val="F2A900"/>
                </a:solidFill>
                <a:latin typeface="Arial" pitchFamily="34" charset="0"/>
                <a:ea typeface="Arial" pitchFamily="34" charset="-122"/>
                <a:cs typeface="Arial" pitchFamily="34" charset="-120"/>
              </a:rPr>
              <a:t>Estrés</a:t>
            </a:r>
            <a:endParaRPr lang="en-US" sz="3400" dirty="0"/>
          </a:p>
        </p:txBody>
      </p:sp>
      <p:sp>
        <p:nvSpPr>
          <p:cNvPr id="10" name="Text 8"/>
          <p:cNvSpPr/>
          <p:nvPr/>
        </p:nvSpPr>
        <p:spPr>
          <a:xfrm>
            <a:off x="960120" y="2285086"/>
            <a:ext cx="2148840" cy="453542"/>
          </a:xfrm>
          <a:prstGeom prst="rect">
            <a:avLst/>
          </a:prstGeom>
          <a:noFill/>
          <a:ln/>
        </p:spPr>
        <p:txBody>
          <a:bodyPr wrap="square" lIns="0" tIns="0" rIns="0" bIns="0" rtlCol="0" anchor="ctr">
            <a:normAutofit/>
          </a:bodyPr>
          <a:lstStyle/>
          <a:p>
            <a:pPr algn="ctr" indent="0" marL="0">
              <a:buNone/>
            </a:pPr>
            <a:r>
              <a:rPr lang="en-US" sz="2400" dirty="0">
                <a:solidFill>
                  <a:srgbClr val="102A43"/>
                </a:solidFill>
                <a:latin typeface="Arial" pitchFamily="34" charset="0"/>
                <a:ea typeface="Arial" pitchFamily="34" charset="-122"/>
                <a:cs typeface="Arial" pitchFamily="34" charset="-120"/>
              </a:rPr>
              <a:t>factor asociado al bruxismo</a:t>
            </a:r>
            <a:endParaRPr lang="en-US" sz="2400" dirty="0"/>
          </a:p>
        </p:txBody>
      </p:sp>
      <p:sp>
        <p:nvSpPr>
          <p:cNvPr id="11" name="Shape 9"/>
          <p:cNvSpPr/>
          <p:nvPr/>
        </p:nvSpPr>
        <p:spPr>
          <a:xfrm>
            <a:off x="3520440" y="1463040"/>
            <a:ext cx="2423160" cy="1417320"/>
          </a:xfrm>
          <a:prstGeom prst="roundRect">
            <a:avLst>
              <a:gd name="adj" fmla="val 5161"/>
            </a:avLst>
          </a:prstGeom>
          <a:solidFill>
            <a:srgbClr val="FFFFFF"/>
          </a:solidFill>
          <a:ln w="12700">
            <a:solidFill>
              <a:srgbClr val="D6E4E8"/>
            </a:solidFill>
            <a:prstDash val="solid"/>
          </a:ln>
        </p:spPr>
      </p:sp>
      <p:sp>
        <p:nvSpPr>
          <p:cNvPr id="12" name="Text 10"/>
          <p:cNvSpPr/>
          <p:nvPr/>
        </p:nvSpPr>
        <p:spPr>
          <a:xfrm>
            <a:off x="3657600" y="1572768"/>
            <a:ext cx="2148840" cy="595274"/>
          </a:xfrm>
          <a:prstGeom prst="rect">
            <a:avLst/>
          </a:prstGeom>
          <a:noFill/>
          <a:ln/>
        </p:spPr>
        <p:txBody>
          <a:bodyPr wrap="square" lIns="0" tIns="0" rIns="0" bIns="0" rtlCol="0" anchor="ctr">
            <a:normAutofit/>
          </a:bodyPr>
          <a:lstStyle/>
          <a:p>
            <a:pPr algn="ctr" indent="0" marL="0">
              <a:buNone/>
            </a:pPr>
            <a:r>
              <a:rPr lang="en-US" sz="3400" b="1" dirty="0">
                <a:solidFill>
                  <a:srgbClr val="00A6B4"/>
                </a:solidFill>
                <a:latin typeface="Arial" pitchFamily="34" charset="0"/>
                <a:ea typeface="Arial" pitchFamily="34" charset="-122"/>
                <a:cs typeface="Arial" pitchFamily="34" charset="-120"/>
              </a:rPr>
              <a:t>Seguimiento</a:t>
            </a:r>
            <a:endParaRPr lang="en-US" sz="3400" dirty="0"/>
          </a:p>
        </p:txBody>
      </p:sp>
      <p:sp>
        <p:nvSpPr>
          <p:cNvPr id="13" name="Text 11"/>
          <p:cNvSpPr/>
          <p:nvPr/>
        </p:nvSpPr>
        <p:spPr>
          <a:xfrm>
            <a:off x="3657600" y="2285086"/>
            <a:ext cx="2148840" cy="453542"/>
          </a:xfrm>
          <a:prstGeom prst="rect">
            <a:avLst/>
          </a:prstGeom>
          <a:noFill/>
          <a:ln/>
        </p:spPr>
        <p:txBody>
          <a:bodyPr wrap="square" lIns="0" tIns="0" rIns="0" bIns="0" rtlCol="0" anchor="ctr">
            <a:normAutofit/>
          </a:bodyPr>
          <a:lstStyle/>
          <a:p>
            <a:pPr algn="ctr" indent="0" marL="0">
              <a:buNone/>
            </a:pPr>
            <a:r>
              <a:rPr lang="en-US" sz="2400" dirty="0">
                <a:solidFill>
                  <a:srgbClr val="102A43"/>
                </a:solidFill>
                <a:latin typeface="Arial" pitchFamily="34" charset="0"/>
                <a:ea typeface="Arial" pitchFamily="34" charset="-122"/>
                <a:cs typeface="Arial" pitchFamily="34" charset="-120"/>
              </a:rPr>
              <a:t>necesidad recurrente</a:t>
            </a:r>
            <a:endParaRPr lang="en-US" sz="2400" dirty="0"/>
          </a:p>
        </p:txBody>
      </p:sp>
      <p:sp>
        <p:nvSpPr>
          <p:cNvPr id="14" name="Shape 12"/>
          <p:cNvSpPr/>
          <p:nvPr/>
        </p:nvSpPr>
        <p:spPr>
          <a:xfrm>
            <a:off x="6217920" y="1463040"/>
            <a:ext cx="2423160" cy="1417320"/>
          </a:xfrm>
          <a:prstGeom prst="roundRect">
            <a:avLst>
              <a:gd name="adj" fmla="val 5161"/>
            </a:avLst>
          </a:prstGeom>
          <a:solidFill>
            <a:srgbClr val="FFFFFF"/>
          </a:solidFill>
          <a:ln w="12700">
            <a:solidFill>
              <a:srgbClr val="D6E4E8"/>
            </a:solidFill>
            <a:prstDash val="solid"/>
          </a:ln>
        </p:spPr>
      </p:sp>
      <p:sp>
        <p:nvSpPr>
          <p:cNvPr id="15" name="Text 13"/>
          <p:cNvSpPr/>
          <p:nvPr/>
        </p:nvSpPr>
        <p:spPr>
          <a:xfrm>
            <a:off x="6355080" y="1572768"/>
            <a:ext cx="2148840" cy="595274"/>
          </a:xfrm>
          <a:prstGeom prst="rect">
            <a:avLst/>
          </a:prstGeom>
          <a:noFill/>
          <a:ln/>
        </p:spPr>
        <p:txBody>
          <a:bodyPr wrap="square" lIns="0" tIns="0" rIns="0" bIns="0" rtlCol="0" anchor="ctr">
            <a:normAutofit/>
          </a:bodyPr>
          <a:lstStyle/>
          <a:p>
            <a:pPr algn="ctr" indent="0" marL="0">
              <a:buNone/>
            </a:pPr>
            <a:r>
              <a:rPr lang="en-US" sz="3400" b="1" dirty="0">
                <a:solidFill>
                  <a:srgbClr val="2CA58D"/>
                </a:solidFill>
                <a:latin typeface="Arial" pitchFamily="34" charset="0"/>
                <a:ea typeface="Arial" pitchFamily="34" charset="-122"/>
                <a:cs typeface="Arial" pitchFamily="34" charset="-120"/>
              </a:rPr>
              <a:t>Coordinación</a:t>
            </a:r>
            <a:endParaRPr lang="en-US" sz="3400" dirty="0"/>
          </a:p>
        </p:txBody>
      </p:sp>
      <p:sp>
        <p:nvSpPr>
          <p:cNvPr id="16" name="Text 14"/>
          <p:cNvSpPr/>
          <p:nvPr/>
        </p:nvSpPr>
        <p:spPr>
          <a:xfrm>
            <a:off x="6355080" y="2285086"/>
            <a:ext cx="2148840" cy="453542"/>
          </a:xfrm>
          <a:prstGeom prst="rect">
            <a:avLst/>
          </a:prstGeom>
          <a:noFill/>
          <a:ln/>
        </p:spPr>
        <p:txBody>
          <a:bodyPr wrap="square" lIns="0" tIns="0" rIns="0" bIns="0" rtlCol="0" anchor="ctr">
            <a:normAutofit/>
          </a:bodyPr>
          <a:lstStyle/>
          <a:p>
            <a:pPr algn="ctr" indent="0" marL="0">
              <a:buNone/>
            </a:pPr>
            <a:r>
              <a:rPr lang="en-US" sz="2400" dirty="0">
                <a:solidFill>
                  <a:srgbClr val="102A43"/>
                </a:solidFill>
                <a:latin typeface="Arial" pitchFamily="34" charset="0"/>
                <a:ea typeface="Arial" pitchFamily="34" charset="-122"/>
                <a:cs typeface="Arial" pitchFamily="34" charset="-120"/>
              </a:rPr>
              <a:t>visión compartida</a:t>
            </a:r>
            <a:endParaRPr lang="en-US" sz="2400" dirty="0"/>
          </a:p>
        </p:txBody>
      </p:sp>
      <p:sp>
        <p:nvSpPr>
          <p:cNvPr id="17" name="Shape 15"/>
          <p:cNvSpPr/>
          <p:nvPr/>
        </p:nvSpPr>
        <p:spPr>
          <a:xfrm>
            <a:off x="8915400" y="1463040"/>
            <a:ext cx="2423160" cy="1417320"/>
          </a:xfrm>
          <a:prstGeom prst="roundRect">
            <a:avLst>
              <a:gd name="adj" fmla="val 5161"/>
            </a:avLst>
          </a:prstGeom>
          <a:solidFill>
            <a:srgbClr val="FFFFFF"/>
          </a:solidFill>
          <a:ln w="12700">
            <a:solidFill>
              <a:srgbClr val="D6E4E8"/>
            </a:solidFill>
            <a:prstDash val="solid"/>
          </a:ln>
        </p:spPr>
      </p:sp>
      <p:sp>
        <p:nvSpPr>
          <p:cNvPr id="18" name="Text 16"/>
          <p:cNvSpPr/>
          <p:nvPr/>
        </p:nvSpPr>
        <p:spPr>
          <a:xfrm>
            <a:off x="9052560" y="1572768"/>
            <a:ext cx="2148840" cy="595274"/>
          </a:xfrm>
          <a:prstGeom prst="rect">
            <a:avLst/>
          </a:prstGeom>
          <a:noFill/>
          <a:ln/>
        </p:spPr>
        <p:txBody>
          <a:bodyPr wrap="square" lIns="0" tIns="0" rIns="0" bIns="0" rtlCol="0" anchor="ctr">
            <a:normAutofit/>
          </a:bodyPr>
          <a:lstStyle/>
          <a:p>
            <a:pPr algn="ctr" indent="0" marL="0">
              <a:buNone/>
            </a:pPr>
            <a:r>
              <a:rPr lang="en-US" sz="3400" b="1" dirty="0">
                <a:solidFill>
                  <a:srgbClr val="8B5CF6"/>
                </a:solidFill>
                <a:latin typeface="Arial" pitchFamily="34" charset="0"/>
                <a:ea typeface="Arial" pitchFamily="34" charset="-122"/>
                <a:cs typeface="Arial" pitchFamily="34" charset="-120"/>
              </a:rPr>
              <a:t>Adherencia</a:t>
            </a:r>
            <a:endParaRPr lang="en-US" sz="3400" dirty="0"/>
          </a:p>
        </p:txBody>
      </p:sp>
      <p:sp>
        <p:nvSpPr>
          <p:cNvPr id="19" name="Text 17"/>
          <p:cNvSpPr/>
          <p:nvPr/>
        </p:nvSpPr>
        <p:spPr>
          <a:xfrm>
            <a:off x="9052560" y="2285086"/>
            <a:ext cx="2148840" cy="453542"/>
          </a:xfrm>
          <a:prstGeom prst="rect">
            <a:avLst/>
          </a:prstGeom>
          <a:noFill/>
          <a:ln/>
        </p:spPr>
        <p:txBody>
          <a:bodyPr wrap="square" lIns="0" tIns="0" rIns="0" bIns="0" rtlCol="0" anchor="ctr">
            <a:normAutofit/>
          </a:bodyPr>
          <a:lstStyle/>
          <a:p>
            <a:pPr algn="ctr" indent="0" marL="0">
              <a:buNone/>
            </a:pPr>
            <a:r>
              <a:rPr lang="en-US" sz="2400" dirty="0">
                <a:solidFill>
                  <a:srgbClr val="102A43"/>
                </a:solidFill>
                <a:latin typeface="Arial" pitchFamily="34" charset="0"/>
                <a:ea typeface="Arial" pitchFamily="34" charset="-122"/>
                <a:cs typeface="Arial" pitchFamily="34" charset="-120"/>
              </a:rPr>
              <a:t>mejora del tratamiento</a:t>
            </a:r>
            <a:endParaRPr lang="en-US" sz="2400" dirty="0"/>
          </a:p>
        </p:txBody>
      </p:sp>
      <p:sp>
        <p:nvSpPr>
          <p:cNvPr id="20" name="Shape 18"/>
          <p:cNvSpPr/>
          <p:nvPr/>
        </p:nvSpPr>
        <p:spPr>
          <a:xfrm>
            <a:off x="960120" y="3767328"/>
            <a:ext cx="128016" cy="128016"/>
          </a:xfrm>
          <a:prstGeom prst="ellipse">
            <a:avLst/>
          </a:prstGeom>
          <a:solidFill>
            <a:srgbClr val="2CA58D"/>
          </a:solidFill>
          <a:ln w="12700">
            <a:solidFill>
              <a:srgbClr val="2CA58D">
                <a:alpha val="0"/>
              </a:srgbClr>
            </a:solidFill>
            <a:prstDash val="solid"/>
          </a:ln>
        </p:spPr>
      </p:sp>
      <p:sp>
        <p:nvSpPr>
          <p:cNvPr id="21" name="Text 19"/>
          <p:cNvSpPr/>
          <p:nvPr/>
        </p:nvSpPr>
        <p:spPr>
          <a:xfrm>
            <a:off x="1216152" y="3657600"/>
            <a:ext cx="10076688" cy="56388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El paciente necesita consultar pautas y citas de forma sencilla.</a:t>
            </a:r>
            <a:endParaRPr lang="en-US" sz="2600" dirty="0"/>
          </a:p>
        </p:txBody>
      </p:sp>
      <p:sp>
        <p:nvSpPr>
          <p:cNvPr id="22" name="Shape 20"/>
          <p:cNvSpPr/>
          <p:nvPr/>
        </p:nvSpPr>
        <p:spPr>
          <a:xfrm>
            <a:off x="960120" y="4376928"/>
            <a:ext cx="128016" cy="128016"/>
          </a:xfrm>
          <a:prstGeom prst="ellipse">
            <a:avLst/>
          </a:prstGeom>
          <a:solidFill>
            <a:srgbClr val="2CA58D"/>
          </a:solidFill>
          <a:ln w="12700">
            <a:solidFill>
              <a:srgbClr val="2CA58D">
                <a:alpha val="0"/>
              </a:srgbClr>
            </a:solidFill>
            <a:prstDash val="solid"/>
          </a:ln>
        </p:spPr>
      </p:sp>
      <p:sp>
        <p:nvSpPr>
          <p:cNvPr id="23" name="Text 21"/>
          <p:cNvSpPr/>
          <p:nvPr/>
        </p:nvSpPr>
        <p:spPr>
          <a:xfrm>
            <a:off x="1216152" y="4267200"/>
            <a:ext cx="10076688" cy="56388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El profesional necesita registrar indicaciones y revisar información básica.</a:t>
            </a:r>
            <a:endParaRPr lang="en-US" sz="2600" dirty="0"/>
          </a:p>
        </p:txBody>
      </p:sp>
      <p:sp>
        <p:nvSpPr>
          <p:cNvPr id="24" name="Shape 22"/>
          <p:cNvSpPr/>
          <p:nvPr/>
        </p:nvSpPr>
        <p:spPr>
          <a:xfrm>
            <a:off x="960120" y="4986528"/>
            <a:ext cx="128016" cy="128016"/>
          </a:xfrm>
          <a:prstGeom prst="ellipse">
            <a:avLst/>
          </a:prstGeom>
          <a:solidFill>
            <a:srgbClr val="2CA58D"/>
          </a:solidFill>
          <a:ln w="12700">
            <a:solidFill>
              <a:srgbClr val="2CA58D">
                <a:alpha val="0"/>
              </a:srgbClr>
            </a:solidFill>
            <a:prstDash val="solid"/>
          </a:ln>
        </p:spPr>
      </p:sp>
      <p:sp>
        <p:nvSpPr>
          <p:cNvPr id="25" name="Text 23"/>
          <p:cNvSpPr/>
          <p:nvPr/>
        </p:nvSpPr>
        <p:spPr>
          <a:xfrm>
            <a:off x="1216152" y="4876800"/>
            <a:ext cx="10076688" cy="56388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La aplicación busca facilitar continuidad y organización del tratamiento.</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1.2. Abstract</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Resumen del proyecto en inglés</a:t>
            </a:r>
            <a:endParaRPr lang="en-US" sz="2400" dirty="0"/>
          </a:p>
        </p:txBody>
      </p:sp>
      <p:sp>
        <p:nvSpPr>
          <p:cNvPr id="8" name="Shape 6"/>
          <p:cNvSpPr/>
          <p:nvPr/>
        </p:nvSpPr>
        <p:spPr>
          <a:xfrm>
            <a:off x="868680" y="1417320"/>
            <a:ext cx="10469880" cy="4434840"/>
          </a:xfrm>
          <a:prstGeom prst="roundRect">
            <a:avLst>
              <a:gd name="adj" fmla="val 1649"/>
            </a:avLst>
          </a:prstGeom>
          <a:solidFill>
            <a:srgbClr val="FFFFFF"/>
          </a:solidFill>
          <a:ln w="15240">
            <a:solidFill>
              <a:srgbClr val="D6E4E8"/>
            </a:solidFill>
            <a:prstDash val="solid"/>
          </a:ln>
        </p:spPr>
      </p:sp>
      <p:sp>
        <p:nvSpPr>
          <p:cNvPr id="9" name="Text 7"/>
          <p:cNvSpPr/>
          <p:nvPr/>
        </p:nvSpPr>
        <p:spPr>
          <a:xfrm>
            <a:off x="1143000" y="1737360"/>
            <a:ext cx="9921240" cy="2286000"/>
          </a:xfrm>
          <a:prstGeom prst="rect">
            <a:avLst/>
          </a:prstGeom>
          <a:noFill/>
          <a:ln/>
        </p:spPr>
        <p:txBody>
          <a:bodyPr wrap="square" lIns="381" tIns="381" rIns="381" bIns="381"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This final project presents the development of a web application for the basic management of patients with bruxism. It includes doctor and patient roles, appointment management, and the assignment of exercises and medication. The application uses React and Vite in the frontend, FastAPI in the backend, and a MySQL relational database accessed through SQLAlchemy.</a:t>
            </a:r>
            <a:endParaRPr lang="en-US" sz="2600" dirty="0"/>
          </a:p>
        </p:txBody>
      </p:sp>
      <p:sp>
        <p:nvSpPr>
          <p:cNvPr id="10" name="Text 8"/>
          <p:cNvSpPr/>
          <p:nvPr/>
        </p:nvSpPr>
        <p:spPr>
          <a:xfrm>
            <a:off x="1143000" y="4297680"/>
            <a:ext cx="9921240" cy="1143000"/>
          </a:xfrm>
          <a:prstGeom prst="rect">
            <a:avLst/>
          </a:prstGeom>
          <a:noFill/>
          <a:ln/>
        </p:spPr>
        <p:txBody>
          <a:bodyPr wrap="square" lIns="381" tIns="381" rIns="381" bIns="381"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The goal is to demonstrate a complete web development process: requirements analysis, database modelling, API design, interface design, local deployment and functional testing.</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1.3. Objetivos propuestos</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Objetivo general y objetivos específicos</a:t>
            </a:r>
            <a:endParaRPr lang="en-US" sz="2400" dirty="0"/>
          </a:p>
        </p:txBody>
      </p:sp>
      <p:sp>
        <p:nvSpPr>
          <p:cNvPr id="8" name="Shape 6"/>
          <p:cNvSpPr/>
          <p:nvPr/>
        </p:nvSpPr>
        <p:spPr>
          <a:xfrm>
            <a:off x="822960" y="1371600"/>
            <a:ext cx="10561320" cy="1097280"/>
          </a:xfrm>
          <a:prstGeom prst="roundRect">
            <a:avLst>
              <a:gd name="adj" fmla="val 6667"/>
            </a:avLst>
          </a:prstGeom>
          <a:solidFill>
            <a:srgbClr val="FFFFFF"/>
          </a:solidFill>
          <a:ln w="19050">
            <a:solidFill>
              <a:srgbClr val="00A6B4"/>
            </a:solidFill>
            <a:prstDash val="solid"/>
          </a:ln>
        </p:spPr>
      </p:sp>
      <p:sp>
        <p:nvSpPr>
          <p:cNvPr id="9" name="Shape 7"/>
          <p:cNvSpPr/>
          <p:nvPr/>
        </p:nvSpPr>
        <p:spPr>
          <a:xfrm>
            <a:off x="822960" y="1371600"/>
            <a:ext cx="82296" cy="1097280"/>
          </a:xfrm>
          <a:prstGeom prst="rect">
            <a:avLst/>
          </a:prstGeom>
          <a:solidFill>
            <a:srgbClr val="00A6B4"/>
          </a:solidFill>
          <a:ln w="12700">
            <a:solidFill>
              <a:srgbClr val="00A6B4">
                <a:alpha val="0"/>
              </a:srgbClr>
            </a:solidFill>
            <a:prstDash val="solid"/>
          </a:ln>
        </p:spPr>
      </p:sp>
      <p:sp>
        <p:nvSpPr>
          <p:cNvPr id="10" name="Text 8"/>
          <p:cNvSpPr/>
          <p:nvPr/>
        </p:nvSpPr>
        <p:spPr>
          <a:xfrm>
            <a:off x="1051560" y="1508760"/>
            <a:ext cx="1019556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Objetivo general</a:t>
            </a:r>
            <a:endParaRPr lang="en-US" sz="2400" dirty="0"/>
          </a:p>
        </p:txBody>
      </p:sp>
      <p:sp>
        <p:nvSpPr>
          <p:cNvPr id="11" name="Text 9"/>
          <p:cNvSpPr/>
          <p:nvPr/>
        </p:nvSpPr>
        <p:spPr>
          <a:xfrm>
            <a:off x="1051560" y="1938528"/>
            <a:ext cx="10195560" cy="43891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Desarrollar una aplicación web funcional para la gestión básica de pacientes con bruxismo, adaptada a médicos y pacientes.</a:t>
            </a:r>
            <a:endParaRPr lang="en-US" sz="2400" dirty="0"/>
          </a:p>
        </p:txBody>
      </p:sp>
      <p:sp>
        <p:nvSpPr>
          <p:cNvPr id="12" name="Shape 10"/>
          <p:cNvSpPr/>
          <p:nvPr/>
        </p:nvSpPr>
        <p:spPr>
          <a:xfrm>
            <a:off x="914400" y="2898648"/>
            <a:ext cx="438912" cy="438912"/>
          </a:xfrm>
          <a:prstGeom prst="ellipse">
            <a:avLst/>
          </a:prstGeom>
          <a:solidFill>
            <a:srgbClr val="00A6B4"/>
          </a:solidFill>
          <a:ln w="12700">
            <a:solidFill>
              <a:srgbClr val="00A6B4">
                <a:alpha val="0"/>
              </a:srgbClr>
            </a:solidFill>
            <a:prstDash val="solid"/>
          </a:ln>
        </p:spPr>
      </p:sp>
      <p:sp>
        <p:nvSpPr>
          <p:cNvPr id="13" name="Text 11"/>
          <p:cNvSpPr/>
          <p:nvPr/>
        </p:nvSpPr>
        <p:spPr>
          <a:xfrm>
            <a:off x="950976" y="2930652"/>
            <a:ext cx="256032" cy="25603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4" name="Text 12"/>
          <p:cNvSpPr/>
          <p:nvPr/>
        </p:nvSpPr>
        <p:spPr>
          <a:xfrm>
            <a:off x="1517904" y="2862072"/>
            <a:ext cx="9729216" cy="490728"/>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Registro e inicio de sesión por rol.</a:t>
            </a:r>
            <a:endParaRPr lang="en-US" sz="2400" dirty="0"/>
          </a:p>
        </p:txBody>
      </p:sp>
      <p:sp>
        <p:nvSpPr>
          <p:cNvPr id="15" name="Shape 13"/>
          <p:cNvSpPr/>
          <p:nvPr/>
        </p:nvSpPr>
        <p:spPr>
          <a:xfrm>
            <a:off x="914400" y="3416808"/>
            <a:ext cx="438912" cy="438912"/>
          </a:xfrm>
          <a:prstGeom prst="ellipse">
            <a:avLst/>
          </a:prstGeom>
          <a:solidFill>
            <a:srgbClr val="00A6B4"/>
          </a:solidFill>
          <a:ln w="12700">
            <a:solidFill>
              <a:srgbClr val="00A6B4">
                <a:alpha val="0"/>
              </a:srgbClr>
            </a:solidFill>
            <a:prstDash val="solid"/>
          </a:ln>
        </p:spPr>
      </p:sp>
      <p:sp>
        <p:nvSpPr>
          <p:cNvPr id="16" name="Text 14"/>
          <p:cNvSpPr/>
          <p:nvPr/>
        </p:nvSpPr>
        <p:spPr>
          <a:xfrm>
            <a:off x="950976" y="3448812"/>
            <a:ext cx="256032" cy="25603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7" name="Text 15"/>
          <p:cNvSpPr/>
          <p:nvPr/>
        </p:nvSpPr>
        <p:spPr>
          <a:xfrm>
            <a:off x="1517904" y="3380232"/>
            <a:ext cx="9729216" cy="490728"/>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Gestión de pacientes y citas.</a:t>
            </a:r>
            <a:endParaRPr lang="en-US" sz="2400" dirty="0"/>
          </a:p>
        </p:txBody>
      </p:sp>
      <p:sp>
        <p:nvSpPr>
          <p:cNvPr id="18" name="Shape 16"/>
          <p:cNvSpPr/>
          <p:nvPr/>
        </p:nvSpPr>
        <p:spPr>
          <a:xfrm>
            <a:off x="914400" y="3934968"/>
            <a:ext cx="438912" cy="438912"/>
          </a:xfrm>
          <a:prstGeom prst="ellipse">
            <a:avLst/>
          </a:prstGeom>
          <a:solidFill>
            <a:srgbClr val="00A6B4"/>
          </a:solidFill>
          <a:ln w="12700">
            <a:solidFill>
              <a:srgbClr val="00A6B4">
                <a:alpha val="0"/>
              </a:srgbClr>
            </a:solidFill>
            <a:prstDash val="solid"/>
          </a:ln>
        </p:spPr>
      </p:sp>
      <p:sp>
        <p:nvSpPr>
          <p:cNvPr id="19" name="Text 17"/>
          <p:cNvSpPr/>
          <p:nvPr/>
        </p:nvSpPr>
        <p:spPr>
          <a:xfrm>
            <a:off x="950976" y="3966972"/>
            <a:ext cx="256032" cy="25603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0" name="Text 18"/>
          <p:cNvSpPr/>
          <p:nvPr/>
        </p:nvSpPr>
        <p:spPr>
          <a:xfrm>
            <a:off x="1517904" y="3898392"/>
            <a:ext cx="9729216" cy="490728"/>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Cancelación con causa obligatoria.</a:t>
            </a:r>
            <a:endParaRPr lang="en-US" sz="2400" dirty="0"/>
          </a:p>
        </p:txBody>
      </p:sp>
      <p:sp>
        <p:nvSpPr>
          <p:cNvPr id="21" name="Shape 19"/>
          <p:cNvSpPr/>
          <p:nvPr/>
        </p:nvSpPr>
        <p:spPr>
          <a:xfrm>
            <a:off x="914400" y="4453128"/>
            <a:ext cx="438912" cy="438912"/>
          </a:xfrm>
          <a:prstGeom prst="ellipse">
            <a:avLst/>
          </a:prstGeom>
          <a:solidFill>
            <a:srgbClr val="00A6B4"/>
          </a:solidFill>
          <a:ln w="12700">
            <a:solidFill>
              <a:srgbClr val="00A6B4">
                <a:alpha val="0"/>
              </a:srgbClr>
            </a:solidFill>
            <a:prstDash val="solid"/>
          </a:ln>
        </p:spPr>
      </p:sp>
      <p:sp>
        <p:nvSpPr>
          <p:cNvPr id="22" name="Text 20"/>
          <p:cNvSpPr/>
          <p:nvPr/>
        </p:nvSpPr>
        <p:spPr>
          <a:xfrm>
            <a:off x="950976" y="4485132"/>
            <a:ext cx="256032" cy="25603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21"/>
          <p:cNvSpPr/>
          <p:nvPr/>
        </p:nvSpPr>
        <p:spPr>
          <a:xfrm>
            <a:off x="1517904" y="4416552"/>
            <a:ext cx="9729216" cy="490728"/>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Asignación de ejercicios y medicación.</a:t>
            </a:r>
            <a:endParaRPr lang="en-US" sz="2400" dirty="0"/>
          </a:p>
        </p:txBody>
      </p:sp>
      <p:sp>
        <p:nvSpPr>
          <p:cNvPr id="24" name="Shape 22"/>
          <p:cNvSpPr/>
          <p:nvPr/>
        </p:nvSpPr>
        <p:spPr>
          <a:xfrm>
            <a:off x="914400" y="4971288"/>
            <a:ext cx="438912" cy="438912"/>
          </a:xfrm>
          <a:prstGeom prst="ellipse">
            <a:avLst/>
          </a:prstGeom>
          <a:solidFill>
            <a:srgbClr val="00A6B4"/>
          </a:solidFill>
          <a:ln w="12700">
            <a:solidFill>
              <a:srgbClr val="00A6B4">
                <a:alpha val="0"/>
              </a:srgbClr>
            </a:solidFill>
            <a:prstDash val="solid"/>
          </a:ln>
        </p:spPr>
      </p:sp>
      <p:sp>
        <p:nvSpPr>
          <p:cNvPr id="25" name="Text 23"/>
          <p:cNvSpPr/>
          <p:nvPr/>
        </p:nvSpPr>
        <p:spPr>
          <a:xfrm>
            <a:off x="950976" y="5003292"/>
            <a:ext cx="256032" cy="25603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6" name="Text 24"/>
          <p:cNvSpPr/>
          <p:nvPr/>
        </p:nvSpPr>
        <p:spPr>
          <a:xfrm>
            <a:off x="1517904" y="4934712"/>
            <a:ext cx="9729216" cy="490728"/>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Portal de paciente con información consolidada.</a:t>
            </a:r>
            <a:endParaRPr lang="en-US" sz="2400" dirty="0"/>
          </a:p>
        </p:txBody>
      </p:sp>
      <p:sp>
        <p:nvSpPr>
          <p:cNvPr id="27" name="Shape 25"/>
          <p:cNvSpPr/>
          <p:nvPr/>
        </p:nvSpPr>
        <p:spPr>
          <a:xfrm>
            <a:off x="914400" y="5489448"/>
            <a:ext cx="438912" cy="438912"/>
          </a:xfrm>
          <a:prstGeom prst="ellipse">
            <a:avLst/>
          </a:prstGeom>
          <a:solidFill>
            <a:srgbClr val="00A6B4"/>
          </a:solidFill>
          <a:ln w="12700">
            <a:solidFill>
              <a:srgbClr val="00A6B4">
                <a:alpha val="0"/>
              </a:srgbClr>
            </a:solidFill>
            <a:prstDash val="solid"/>
          </a:ln>
        </p:spPr>
      </p:sp>
      <p:sp>
        <p:nvSpPr>
          <p:cNvPr id="28" name="Text 26"/>
          <p:cNvSpPr/>
          <p:nvPr/>
        </p:nvSpPr>
        <p:spPr>
          <a:xfrm>
            <a:off x="950976" y="5521452"/>
            <a:ext cx="256032" cy="25603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9" name="Text 27"/>
          <p:cNvSpPr/>
          <p:nvPr/>
        </p:nvSpPr>
        <p:spPr>
          <a:xfrm>
            <a:off x="1517904" y="5452872"/>
            <a:ext cx="9729216" cy="490728"/>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Base de datos relacional con claves foráneas.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2. Estado del Arte</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Contexto sanitario y digital</a:t>
            </a:r>
            <a:endParaRPr lang="en-US" sz="2400" dirty="0"/>
          </a:p>
        </p:txBody>
      </p:sp>
      <p:pic>
        <p:nvPicPr>
          <p:cNvPr id="8" name="Image 0" descr="/mnt/data/docx_media/word/media/image2.jpeg">    </p:cNvPr>
          <p:cNvPicPr>
            <a:picLocks noChangeAspect="1"/>
          </p:cNvPicPr>
          <p:nvPr/>
        </p:nvPicPr>
        <p:blipFill>
          <a:blip r:embed="rId1"/>
          <a:srcRect l="8000" r="33754" t="0" b="0"/>
          <a:stretch/>
        </p:blipFill>
        <p:spPr>
          <a:xfrm>
            <a:off x="822960" y="1417320"/>
            <a:ext cx="3794760" cy="4343400"/>
          </a:xfrm>
          <a:prstGeom prst="rect">
            <a:avLst/>
          </a:prstGeom>
        </p:spPr>
      </p:pic>
      <p:sp>
        <p:nvSpPr>
          <p:cNvPr id="9" name="Shape 6"/>
          <p:cNvSpPr/>
          <p:nvPr/>
        </p:nvSpPr>
        <p:spPr>
          <a:xfrm>
            <a:off x="5074920" y="1591056"/>
            <a:ext cx="128016" cy="128016"/>
          </a:xfrm>
          <a:prstGeom prst="ellipse">
            <a:avLst/>
          </a:prstGeom>
          <a:solidFill>
            <a:srgbClr val="00A6B4"/>
          </a:solidFill>
          <a:ln w="12700">
            <a:solidFill>
              <a:srgbClr val="00A6B4">
                <a:alpha val="0"/>
              </a:srgbClr>
            </a:solidFill>
            <a:prstDash val="solid"/>
          </a:ln>
        </p:spPr>
      </p:sp>
      <p:sp>
        <p:nvSpPr>
          <p:cNvPr id="10" name="Text 7"/>
          <p:cNvSpPr/>
          <p:nvPr/>
        </p:nvSpPr>
        <p:spPr>
          <a:xfrm>
            <a:off x="5330952" y="1481328"/>
            <a:ext cx="5961888" cy="100584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El bruxismo puede aparecer durante el sueño o en vigilia.</a:t>
            </a:r>
            <a:endParaRPr lang="en-US" sz="2600" dirty="0"/>
          </a:p>
        </p:txBody>
      </p:sp>
      <p:sp>
        <p:nvSpPr>
          <p:cNvPr id="11" name="Shape 8"/>
          <p:cNvSpPr/>
          <p:nvPr/>
        </p:nvSpPr>
        <p:spPr>
          <a:xfrm>
            <a:off x="5074920" y="2642616"/>
            <a:ext cx="128016" cy="128016"/>
          </a:xfrm>
          <a:prstGeom prst="ellipse">
            <a:avLst/>
          </a:prstGeom>
          <a:solidFill>
            <a:srgbClr val="00A6B4"/>
          </a:solidFill>
          <a:ln w="12700">
            <a:solidFill>
              <a:srgbClr val="00A6B4">
                <a:alpha val="0"/>
              </a:srgbClr>
            </a:solidFill>
            <a:prstDash val="solid"/>
          </a:ln>
        </p:spPr>
      </p:sp>
      <p:sp>
        <p:nvSpPr>
          <p:cNvPr id="12" name="Text 9"/>
          <p:cNvSpPr/>
          <p:nvPr/>
        </p:nvSpPr>
        <p:spPr>
          <a:xfrm>
            <a:off x="5330952" y="2532888"/>
            <a:ext cx="5961888" cy="100584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Requiere revisiones, autocuidado y seguimiento periódico.</a:t>
            </a:r>
            <a:endParaRPr lang="en-US" sz="2600" dirty="0"/>
          </a:p>
        </p:txBody>
      </p:sp>
      <p:sp>
        <p:nvSpPr>
          <p:cNvPr id="13" name="Shape 10"/>
          <p:cNvSpPr/>
          <p:nvPr/>
        </p:nvSpPr>
        <p:spPr>
          <a:xfrm>
            <a:off x="5074920" y="3694176"/>
            <a:ext cx="128016" cy="128016"/>
          </a:xfrm>
          <a:prstGeom prst="ellipse">
            <a:avLst/>
          </a:prstGeom>
          <a:solidFill>
            <a:srgbClr val="00A6B4"/>
          </a:solidFill>
          <a:ln w="12700">
            <a:solidFill>
              <a:srgbClr val="00A6B4">
                <a:alpha val="0"/>
              </a:srgbClr>
            </a:solidFill>
            <a:prstDash val="solid"/>
          </a:ln>
        </p:spPr>
      </p:sp>
      <p:sp>
        <p:nvSpPr>
          <p:cNvPr id="14" name="Text 11"/>
          <p:cNvSpPr/>
          <p:nvPr/>
        </p:nvSpPr>
        <p:spPr>
          <a:xfrm>
            <a:off x="5330952" y="3584448"/>
            <a:ext cx="5961888" cy="100584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La salud digital favorece monitorización, comunicación y adherencia.</a:t>
            </a:r>
            <a:endParaRPr lang="en-US" sz="2600" dirty="0"/>
          </a:p>
        </p:txBody>
      </p:sp>
      <p:sp>
        <p:nvSpPr>
          <p:cNvPr id="15" name="Shape 12"/>
          <p:cNvSpPr/>
          <p:nvPr/>
        </p:nvSpPr>
        <p:spPr>
          <a:xfrm>
            <a:off x="5074920" y="4745736"/>
            <a:ext cx="128016" cy="128016"/>
          </a:xfrm>
          <a:prstGeom prst="ellipse">
            <a:avLst/>
          </a:prstGeom>
          <a:solidFill>
            <a:srgbClr val="00A6B4"/>
          </a:solidFill>
          <a:ln w="12700">
            <a:solidFill>
              <a:srgbClr val="00A6B4">
                <a:alpha val="0"/>
              </a:srgbClr>
            </a:solidFill>
            <a:prstDash val="solid"/>
          </a:ln>
        </p:spPr>
      </p:sp>
      <p:sp>
        <p:nvSpPr>
          <p:cNvPr id="16" name="Text 13"/>
          <p:cNvSpPr/>
          <p:nvPr/>
        </p:nvSpPr>
        <p:spPr>
          <a:xfrm>
            <a:off x="5330952" y="4636008"/>
            <a:ext cx="5961888" cy="100584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Las aplicaciones web reducen dependencia del dispositivo.</a:t>
            </a:r>
            <a:endParaRPr lang="en-US"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2. Estado del Arte</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Referentes, tendencias y vacío detectado</a:t>
            </a:r>
            <a:endParaRPr lang="en-US" sz="2400" dirty="0"/>
          </a:p>
        </p:txBody>
      </p:sp>
      <p:sp>
        <p:nvSpPr>
          <p:cNvPr id="8" name="Shape 6"/>
          <p:cNvSpPr/>
          <p:nvPr/>
        </p:nvSpPr>
        <p:spPr>
          <a:xfrm>
            <a:off x="731520" y="1417320"/>
            <a:ext cx="3566160" cy="1554480"/>
          </a:xfrm>
          <a:prstGeom prst="roundRect">
            <a:avLst>
              <a:gd name="adj" fmla="val 4706"/>
            </a:avLst>
          </a:prstGeom>
          <a:solidFill>
            <a:srgbClr val="FFFFFF"/>
          </a:solidFill>
          <a:ln w="19050">
            <a:solidFill>
              <a:srgbClr val="00A6B4"/>
            </a:solidFill>
            <a:prstDash val="solid"/>
          </a:ln>
        </p:spPr>
      </p:sp>
      <p:sp>
        <p:nvSpPr>
          <p:cNvPr id="9" name="Shape 7"/>
          <p:cNvSpPr/>
          <p:nvPr/>
        </p:nvSpPr>
        <p:spPr>
          <a:xfrm>
            <a:off x="731520" y="1417320"/>
            <a:ext cx="82296" cy="1554480"/>
          </a:xfrm>
          <a:prstGeom prst="rect">
            <a:avLst/>
          </a:prstGeom>
          <a:solidFill>
            <a:srgbClr val="00A6B4"/>
          </a:solidFill>
          <a:ln w="12700">
            <a:solidFill>
              <a:srgbClr val="00A6B4">
                <a:alpha val="0"/>
              </a:srgbClr>
            </a:solidFill>
            <a:prstDash val="solid"/>
          </a:ln>
        </p:spPr>
      </p:sp>
      <p:sp>
        <p:nvSpPr>
          <p:cNvPr id="10" name="Text 8"/>
          <p:cNvSpPr/>
          <p:nvPr/>
        </p:nvSpPr>
        <p:spPr>
          <a:xfrm>
            <a:off x="960120" y="1554480"/>
            <a:ext cx="320040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Referentes</a:t>
            </a:r>
            <a:endParaRPr lang="en-US" sz="2400" dirty="0"/>
          </a:p>
        </p:txBody>
      </p:sp>
      <p:sp>
        <p:nvSpPr>
          <p:cNvPr id="11" name="Text 9"/>
          <p:cNvSpPr/>
          <p:nvPr/>
        </p:nvSpPr>
        <p:spPr>
          <a:xfrm>
            <a:off x="960120" y="1984248"/>
            <a:ext cx="3200400" cy="89611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BruxApp, apps de sueño y plataformas clínicas comerciales.</a:t>
            </a:r>
            <a:endParaRPr lang="en-US" sz="2400" dirty="0"/>
          </a:p>
        </p:txBody>
      </p:sp>
      <p:sp>
        <p:nvSpPr>
          <p:cNvPr id="12" name="Shape 10"/>
          <p:cNvSpPr/>
          <p:nvPr/>
        </p:nvSpPr>
        <p:spPr>
          <a:xfrm>
            <a:off x="4480560" y="1417320"/>
            <a:ext cx="3566160" cy="1554480"/>
          </a:xfrm>
          <a:prstGeom prst="roundRect">
            <a:avLst>
              <a:gd name="adj" fmla="val 4706"/>
            </a:avLst>
          </a:prstGeom>
          <a:solidFill>
            <a:srgbClr val="FFFFFF"/>
          </a:solidFill>
          <a:ln w="19050">
            <a:solidFill>
              <a:srgbClr val="2CA58D"/>
            </a:solidFill>
            <a:prstDash val="solid"/>
          </a:ln>
        </p:spPr>
      </p:sp>
      <p:sp>
        <p:nvSpPr>
          <p:cNvPr id="13" name="Shape 11"/>
          <p:cNvSpPr/>
          <p:nvPr/>
        </p:nvSpPr>
        <p:spPr>
          <a:xfrm>
            <a:off x="4480560" y="1417320"/>
            <a:ext cx="82296" cy="1554480"/>
          </a:xfrm>
          <a:prstGeom prst="rect">
            <a:avLst/>
          </a:prstGeom>
          <a:solidFill>
            <a:srgbClr val="2CA58D"/>
          </a:solidFill>
          <a:ln w="12700">
            <a:solidFill>
              <a:srgbClr val="2CA58D">
                <a:alpha val="0"/>
              </a:srgbClr>
            </a:solidFill>
            <a:prstDash val="solid"/>
          </a:ln>
        </p:spPr>
      </p:sp>
      <p:sp>
        <p:nvSpPr>
          <p:cNvPr id="14" name="Text 12"/>
          <p:cNvSpPr/>
          <p:nvPr/>
        </p:nvSpPr>
        <p:spPr>
          <a:xfrm>
            <a:off x="4709160" y="1554480"/>
            <a:ext cx="320040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Tendencias</a:t>
            </a:r>
            <a:endParaRPr lang="en-US" sz="2400" dirty="0"/>
          </a:p>
        </p:txBody>
      </p:sp>
      <p:sp>
        <p:nvSpPr>
          <p:cNvPr id="15" name="Text 13"/>
          <p:cNvSpPr/>
          <p:nvPr/>
        </p:nvSpPr>
        <p:spPr>
          <a:xfrm>
            <a:off x="4709160" y="1984248"/>
            <a:ext cx="3200400" cy="89611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Telemedicina, mHealth, seguimiento remoto y personalización.</a:t>
            </a:r>
            <a:endParaRPr lang="en-US" sz="2400" dirty="0"/>
          </a:p>
        </p:txBody>
      </p:sp>
      <p:sp>
        <p:nvSpPr>
          <p:cNvPr id="16" name="Shape 14"/>
          <p:cNvSpPr/>
          <p:nvPr/>
        </p:nvSpPr>
        <p:spPr>
          <a:xfrm>
            <a:off x="8229600" y="1417320"/>
            <a:ext cx="3291840" cy="1554480"/>
          </a:xfrm>
          <a:prstGeom prst="roundRect">
            <a:avLst>
              <a:gd name="adj" fmla="val 4706"/>
            </a:avLst>
          </a:prstGeom>
          <a:solidFill>
            <a:srgbClr val="FFFFFF"/>
          </a:solidFill>
          <a:ln w="19050">
            <a:solidFill>
              <a:srgbClr val="F2A900"/>
            </a:solidFill>
            <a:prstDash val="solid"/>
          </a:ln>
        </p:spPr>
      </p:sp>
      <p:sp>
        <p:nvSpPr>
          <p:cNvPr id="17" name="Shape 15"/>
          <p:cNvSpPr/>
          <p:nvPr/>
        </p:nvSpPr>
        <p:spPr>
          <a:xfrm>
            <a:off x="8229600" y="1417320"/>
            <a:ext cx="82296" cy="1554480"/>
          </a:xfrm>
          <a:prstGeom prst="rect">
            <a:avLst/>
          </a:prstGeom>
          <a:solidFill>
            <a:srgbClr val="F2A900"/>
          </a:solidFill>
          <a:ln w="12700">
            <a:solidFill>
              <a:srgbClr val="F2A900">
                <a:alpha val="0"/>
              </a:srgbClr>
            </a:solidFill>
            <a:prstDash val="solid"/>
          </a:ln>
        </p:spPr>
      </p:sp>
      <p:sp>
        <p:nvSpPr>
          <p:cNvPr id="18" name="Text 16"/>
          <p:cNvSpPr/>
          <p:nvPr/>
        </p:nvSpPr>
        <p:spPr>
          <a:xfrm>
            <a:off x="8458200" y="1554480"/>
            <a:ext cx="292608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Vacío</a:t>
            </a:r>
            <a:endParaRPr lang="en-US" sz="2400" dirty="0"/>
          </a:p>
        </p:txBody>
      </p:sp>
      <p:sp>
        <p:nvSpPr>
          <p:cNvPr id="19" name="Text 17"/>
          <p:cNvSpPr/>
          <p:nvPr/>
        </p:nvSpPr>
        <p:spPr>
          <a:xfrm>
            <a:off x="8458200" y="1984248"/>
            <a:ext cx="2926080" cy="89611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Faltan soluciones ligeras centradas en citas, pautas y seguimiento de bruxismo.</a:t>
            </a:r>
            <a:endParaRPr lang="en-US" sz="2400" dirty="0"/>
          </a:p>
        </p:txBody>
      </p:sp>
      <p:sp>
        <p:nvSpPr>
          <p:cNvPr id="20" name="Shape 18"/>
          <p:cNvSpPr/>
          <p:nvPr/>
        </p:nvSpPr>
        <p:spPr>
          <a:xfrm>
            <a:off x="960120" y="3813048"/>
            <a:ext cx="128016" cy="128016"/>
          </a:xfrm>
          <a:prstGeom prst="ellipse">
            <a:avLst/>
          </a:prstGeom>
          <a:solidFill>
            <a:srgbClr val="2CA58D"/>
          </a:solidFill>
          <a:ln w="12700">
            <a:solidFill>
              <a:srgbClr val="2CA58D">
                <a:alpha val="0"/>
              </a:srgbClr>
            </a:solidFill>
            <a:prstDash val="solid"/>
          </a:ln>
        </p:spPr>
      </p:sp>
      <p:sp>
        <p:nvSpPr>
          <p:cNvPr id="21" name="Text 19"/>
          <p:cNvSpPr/>
          <p:nvPr/>
        </p:nvSpPr>
        <p:spPr>
          <a:xfrm>
            <a:off x="1216152" y="3703320"/>
            <a:ext cx="9939528" cy="56388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La mayoría de soluciones se centran en monitorización, diagnóstico o gestión clínica completa.</a:t>
            </a:r>
            <a:endParaRPr lang="en-US" sz="2600" dirty="0"/>
          </a:p>
        </p:txBody>
      </p:sp>
      <p:sp>
        <p:nvSpPr>
          <p:cNvPr id="22" name="Shape 20"/>
          <p:cNvSpPr/>
          <p:nvPr/>
        </p:nvSpPr>
        <p:spPr>
          <a:xfrm>
            <a:off x="960120" y="4422648"/>
            <a:ext cx="128016" cy="128016"/>
          </a:xfrm>
          <a:prstGeom prst="ellipse">
            <a:avLst/>
          </a:prstGeom>
          <a:solidFill>
            <a:srgbClr val="2CA58D"/>
          </a:solidFill>
          <a:ln w="12700">
            <a:solidFill>
              <a:srgbClr val="2CA58D">
                <a:alpha val="0"/>
              </a:srgbClr>
            </a:solidFill>
            <a:prstDash val="solid"/>
          </a:ln>
        </p:spPr>
      </p:sp>
      <p:sp>
        <p:nvSpPr>
          <p:cNvPr id="23" name="Text 21"/>
          <p:cNvSpPr/>
          <p:nvPr/>
        </p:nvSpPr>
        <p:spPr>
          <a:xfrm>
            <a:off x="1216152" y="4312920"/>
            <a:ext cx="9939528" cy="56388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Bruxheal se posiciona como solución académica ligera y específica.</a:t>
            </a:r>
            <a:endParaRPr lang="en-US" sz="2600" dirty="0"/>
          </a:p>
        </p:txBody>
      </p:sp>
      <p:sp>
        <p:nvSpPr>
          <p:cNvPr id="24" name="Shape 22"/>
          <p:cNvSpPr/>
          <p:nvPr/>
        </p:nvSpPr>
        <p:spPr>
          <a:xfrm>
            <a:off x="960120" y="5032248"/>
            <a:ext cx="128016" cy="128016"/>
          </a:xfrm>
          <a:prstGeom prst="ellipse">
            <a:avLst/>
          </a:prstGeom>
          <a:solidFill>
            <a:srgbClr val="2CA58D"/>
          </a:solidFill>
          <a:ln w="12700">
            <a:solidFill>
              <a:srgbClr val="2CA58D">
                <a:alpha val="0"/>
              </a:srgbClr>
            </a:solidFill>
            <a:prstDash val="solid"/>
          </a:ln>
        </p:spPr>
      </p:sp>
      <p:sp>
        <p:nvSpPr>
          <p:cNvPr id="25" name="Text 23"/>
          <p:cNvSpPr/>
          <p:nvPr/>
        </p:nvSpPr>
        <p:spPr>
          <a:xfrm>
            <a:off x="1216152" y="4922520"/>
            <a:ext cx="9939528" cy="56388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El alcance se limita a seguimiento organizativo, no a diagnóstico médico.</a:t>
            </a:r>
            <a:endParaRPr lang="en-US" sz="2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3. Metodología usada</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Desarrollo incremental e iterativo</a:t>
            </a:r>
            <a:endParaRPr lang="en-US" sz="2400" dirty="0"/>
          </a:p>
        </p:txBody>
      </p:sp>
      <p:sp>
        <p:nvSpPr>
          <p:cNvPr id="8" name="Shape 6"/>
          <p:cNvSpPr/>
          <p:nvPr/>
        </p:nvSpPr>
        <p:spPr>
          <a:xfrm>
            <a:off x="2423160" y="3090672"/>
            <a:ext cx="548640" cy="0"/>
          </a:xfrm>
          <a:prstGeom prst="line">
            <a:avLst/>
          </a:prstGeom>
          <a:noFill/>
          <a:ln w="25400">
            <a:solidFill>
              <a:srgbClr val="00A6B4"/>
            </a:solidFill>
            <a:prstDash val="solid"/>
            <a:headEnd type="none"/>
            <a:tailEnd type="triangle"/>
          </a:ln>
        </p:spPr>
      </p:sp>
      <p:sp>
        <p:nvSpPr>
          <p:cNvPr id="9" name="Shape 7"/>
          <p:cNvSpPr/>
          <p:nvPr/>
        </p:nvSpPr>
        <p:spPr>
          <a:xfrm>
            <a:off x="4572000" y="3090672"/>
            <a:ext cx="548640" cy="0"/>
          </a:xfrm>
          <a:prstGeom prst="line">
            <a:avLst/>
          </a:prstGeom>
          <a:noFill/>
          <a:ln w="25400">
            <a:solidFill>
              <a:srgbClr val="00A6B4"/>
            </a:solidFill>
            <a:prstDash val="solid"/>
            <a:headEnd type="none"/>
            <a:tailEnd type="triangle"/>
          </a:ln>
        </p:spPr>
      </p:sp>
      <p:sp>
        <p:nvSpPr>
          <p:cNvPr id="10" name="Shape 8"/>
          <p:cNvSpPr/>
          <p:nvPr/>
        </p:nvSpPr>
        <p:spPr>
          <a:xfrm>
            <a:off x="6720840" y="3090672"/>
            <a:ext cx="548640" cy="0"/>
          </a:xfrm>
          <a:prstGeom prst="line">
            <a:avLst/>
          </a:prstGeom>
          <a:noFill/>
          <a:ln w="25400">
            <a:solidFill>
              <a:srgbClr val="00A6B4"/>
            </a:solidFill>
            <a:prstDash val="solid"/>
            <a:headEnd type="none"/>
            <a:tailEnd type="triangle"/>
          </a:ln>
        </p:spPr>
      </p:sp>
      <p:sp>
        <p:nvSpPr>
          <p:cNvPr id="11" name="Shape 9"/>
          <p:cNvSpPr/>
          <p:nvPr/>
        </p:nvSpPr>
        <p:spPr>
          <a:xfrm>
            <a:off x="8869680" y="3090672"/>
            <a:ext cx="548640" cy="0"/>
          </a:xfrm>
          <a:prstGeom prst="line">
            <a:avLst/>
          </a:prstGeom>
          <a:noFill/>
          <a:ln w="25400">
            <a:solidFill>
              <a:srgbClr val="00A6B4"/>
            </a:solidFill>
            <a:prstDash val="solid"/>
            <a:headEnd type="none"/>
            <a:tailEnd type="triangle"/>
          </a:ln>
        </p:spPr>
      </p:sp>
      <p:sp>
        <p:nvSpPr>
          <p:cNvPr id="12" name="Shape 10"/>
          <p:cNvSpPr/>
          <p:nvPr/>
        </p:nvSpPr>
        <p:spPr>
          <a:xfrm>
            <a:off x="685800" y="2697480"/>
            <a:ext cx="914400" cy="914400"/>
          </a:xfrm>
          <a:prstGeom prst="ellipse">
            <a:avLst/>
          </a:prstGeom>
          <a:solidFill>
            <a:srgbClr val="00A6B4"/>
          </a:solidFill>
          <a:ln w="12700">
            <a:solidFill>
              <a:srgbClr val="00A6B4">
                <a:alpha val="0"/>
              </a:srgbClr>
            </a:solidFill>
            <a:prstDash val="solid"/>
          </a:ln>
        </p:spPr>
      </p:sp>
      <p:sp>
        <p:nvSpPr>
          <p:cNvPr id="13" name="Text 11"/>
          <p:cNvSpPr/>
          <p:nvPr/>
        </p:nvSpPr>
        <p:spPr>
          <a:xfrm>
            <a:off x="914400" y="2880360"/>
            <a:ext cx="4572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14" name="Text 12"/>
          <p:cNvSpPr/>
          <p:nvPr/>
        </p:nvSpPr>
        <p:spPr>
          <a:xfrm>
            <a:off x="301752" y="3749040"/>
            <a:ext cx="1691640" cy="777240"/>
          </a:xfrm>
          <a:prstGeom prst="rect">
            <a:avLst/>
          </a:prstGeom>
          <a:noFill/>
          <a:ln/>
        </p:spPr>
        <p:txBody>
          <a:bodyPr wrap="square" lIns="0" tIns="0" rIns="0" bIns="0" rtlCol="0" anchor="ctr">
            <a:normAutofit/>
          </a:bodyPr>
          <a:lstStyle/>
          <a:p>
            <a:pPr algn="ctr" indent="0" marL="0">
              <a:buNone/>
            </a:pPr>
            <a:r>
              <a:rPr lang="en-US" sz="2400" b="1" dirty="0">
                <a:solidFill>
                  <a:srgbClr val="102A43"/>
                </a:solidFill>
                <a:latin typeface="Arial" pitchFamily="34" charset="0"/>
                <a:ea typeface="Arial" pitchFamily="34" charset="-122"/>
                <a:cs typeface="Arial" pitchFamily="34" charset="-120"/>
              </a:rPr>
              <a:t>Análisis</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inicial</a:t>
            </a:r>
            <a:endParaRPr lang="en-US" sz="2400" dirty="0"/>
          </a:p>
        </p:txBody>
      </p:sp>
      <p:sp>
        <p:nvSpPr>
          <p:cNvPr id="15" name="Shape 13"/>
          <p:cNvSpPr/>
          <p:nvPr/>
        </p:nvSpPr>
        <p:spPr>
          <a:xfrm>
            <a:off x="2834640" y="2697480"/>
            <a:ext cx="914400" cy="914400"/>
          </a:xfrm>
          <a:prstGeom prst="ellipse">
            <a:avLst/>
          </a:prstGeom>
          <a:solidFill>
            <a:srgbClr val="00A6B4"/>
          </a:solidFill>
          <a:ln w="12700">
            <a:solidFill>
              <a:srgbClr val="00A6B4">
                <a:alpha val="0"/>
              </a:srgbClr>
            </a:solidFill>
            <a:prstDash val="solid"/>
          </a:ln>
        </p:spPr>
      </p:sp>
      <p:sp>
        <p:nvSpPr>
          <p:cNvPr id="16" name="Text 14"/>
          <p:cNvSpPr/>
          <p:nvPr/>
        </p:nvSpPr>
        <p:spPr>
          <a:xfrm>
            <a:off x="3063240" y="2880360"/>
            <a:ext cx="4572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7" name="Text 15"/>
          <p:cNvSpPr/>
          <p:nvPr/>
        </p:nvSpPr>
        <p:spPr>
          <a:xfrm>
            <a:off x="2450592" y="3749040"/>
            <a:ext cx="1691640" cy="777240"/>
          </a:xfrm>
          <a:prstGeom prst="rect">
            <a:avLst/>
          </a:prstGeom>
          <a:noFill/>
          <a:ln/>
        </p:spPr>
        <p:txBody>
          <a:bodyPr wrap="square" lIns="0" tIns="0" rIns="0" bIns="0" rtlCol="0" anchor="ctr">
            <a:normAutofit/>
          </a:bodyPr>
          <a:lstStyle/>
          <a:p>
            <a:pPr algn="ctr" indent="0" marL="0">
              <a:buNone/>
            </a:pPr>
            <a:r>
              <a:rPr lang="en-US" sz="2400" b="1" dirty="0">
                <a:solidFill>
                  <a:srgbClr val="102A43"/>
                </a:solidFill>
                <a:latin typeface="Arial" pitchFamily="34" charset="0"/>
                <a:ea typeface="Arial" pitchFamily="34" charset="-122"/>
                <a:cs typeface="Arial" pitchFamily="34" charset="-120"/>
              </a:rPr>
              <a:t>Diseño</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de datos</a:t>
            </a:r>
            <a:endParaRPr lang="en-US" sz="2400" dirty="0"/>
          </a:p>
        </p:txBody>
      </p:sp>
      <p:sp>
        <p:nvSpPr>
          <p:cNvPr id="18" name="Shape 16"/>
          <p:cNvSpPr/>
          <p:nvPr/>
        </p:nvSpPr>
        <p:spPr>
          <a:xfrm>
            <a:off x="4983480" y="2697480"/>
            <a:ext cx="914400" cy="914400"/>
          </a:xfrm>
          <a:prstGeom prst="ellipse">
            <a:avLst/>
          </a:prstGeom>
          <a:solidFill>
            <a:srgbClr val="00A6B4"/>
          </a:solidFill>
          <a:ln w="12700">
            <a:solidFill>
              <a:srgbClr val="00A6B4">
                <a:alpha val="0"/>
              </a:srgbClr>
            </a:solidFill>
            <a:prstDash val="solid"/>
          </a:ln>
        </p:spPr>
      </p:sp>
      <p:sp>
        <p:nvSpPr>
          <p:cNvPr id="19" name="Text 17"/>
          <p:cNvSpPr/>
          <p:nvPr/>
        </p:nvSpPr>
        <p:spPr>
          <a:xfrm>
            <a:off x="5212080" y="2880360"/>
            <a:ext cx="4572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20" name="Text 18"/>
          <p:cNvSpPr/>
          <p:nvPr/>
        </p:nvSpPr>
        <p:spPr>
          <a:xfrm>
            <a:off x="4599432" y="3749040"/>
            <a:ext cx="1691640" cy="777240"/>
          </a:xfrm>
          <a:prstGeom prst="rect">
            <a:avLst/>
          </a:prstGeom>
          <a:noFill/>
          <a:ln/>
        </p:spPr>
        <p:txBody>
          <a:bodyPr wrap="square" lIns="0" tIns="0" rIns="0" bIns="0" rtlCol="0" anchor="ctr">
            <a:normAutofit/>
          </a:bodyPr>
          <a:lstStyle/>
          <a:p>
            <a:pPr algn="ctr" indent="0" marL="0">
              <a:buNone/>
            </a:pPr>
            <a:r>
              <a:rPr lang="en-US" sz="2400" b="1" dirty="0">
                <a:solidFill>
                  <a:srgbClr val="102A43"/>
                </a:solidFill>
                <a:latin typeface="Arial" pitchFamily="34" charset="0"/>
                <a:ea typeface="Arial" pitchFamily="34" charset="-122"/>
                <a:cs typeface="Arial" pitchFamily="34" charset="-120"/>
              </a:rPr>
              <a:t>Backend</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API</a:t>
            </a:r>
            <a:endParaRPr lang="en-US" sz="2400" dirty="0"/>
          </a:p>
        </p:txBody>
      </p:sp>
      <p:sp>
        <p:nvSpPr>
          <p:cNvPr id="21" name="Shape 19"/>
          <p:cNvSpPr/>
          <p:nvPr/>
        </p:nvSpPr>
        <p:spPr>
          <a:xfrm>
            <a:off x="7132320" y="2697480"/>
            <a:ext cx="914400" cy="914400"/>
          </a:xfrm>
          <a:prstGeom prst="ellipse">
            <a:avLst/>
          </a:prstGeom>
          <a:solidFill>
            <a:srgbClr val="00A6B4"/>
          </a:solidFill>
          <a:ln w="12700">
            <a:solidFill>
              <a:srgbClr val="00A6B4">
                <a:alpha val="0"/>
              </a:srgbClr>
            </a:solidFill>
            <a:prstDash val="solid"/>
          </a:ln>
        </p:spPr>
      </p:sp>
      <p:sp>
        <p:nvSpPr>
          <p:cNvPr id="22" name="Text 20"/>
          <p:cNvSpPr/>
          <p:nvPr/>
        </p:nvSpPr>
        <p:spPr>
          <a:xfrm>
            <a:off x="7360920" y="2880360"/>
            <a:ext cx="4572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p:txBody>
      </p:sp>
      <p:sp>
        <p:nvSpPr>
          <p:cNvPr id="23" name="Text 21"/>
          <p:cNvSpPr/>
          <p:nvPr/>
        </p:nvSpPr>
        <p:spPr>
          <a:xfrm>
            <a:off x="6748272" y="3749040"/>
            <a:ext cx="1691640" cy="777240"/>
          </a:xfrm>
          <a:prstGeom prst="rect">
            <a:avLst/>
          </a:prstGeom>
          <a:noFill/>
          <a:ln/>
        </p:spPr>
        <p:txBody>
          <a:bodyPr wrap="square" lIns="0" tIns="0" rIns="0" bIns="0" rtlCol="0" anchor="ctr">
            <a:normAutofit/>
          </a:bodyPr>
          <a:lstStyle/>
          <a:p>
            <a:pPr algn="ctr" indent="0" marL="0">
              <a:buNone/>
            </a:pPr>
            <a:r>
              <a:rPr lang="en-US" sz="2400" b="1" dirty="0">
                <a:solidFill>
                  <a:srgbClr val="102A43"/>
                </a:solidFill>
                <a:latin typeface="Arial" pitchFamily="34" charset="0"/>
                <a:ea typeface="Arial" pitchFamily="34" charset="-122"/>
                <a:cs typeface="Arial" pitchFamily="34" charset="-120"/>
              </a:rPr>
              <a:t>Frontend</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por roles</a:t>
            </a:r>
            <a:endParaRPr lang="en-US" sz="2400" dirty="0"/>
          </a:p>
        </p:txBody>
      </p:sp>
      <p:sp>
        <p:nvSpPr>
          <p:cNvPr id="24" name="Shape 22"/>
          <p:cNvSpPr/>
          <p:nvPr/>
        </p:nvSpPr>
        <p:spPr>
          <a:xfrm>
            <a:off x="9281160" y="2697480"/>
            <a:ext cx="914400" cy="914400"/>
          </a:xfrm>
          <a:prstGeom prst="ellipse">
            <a:avLst/>
          </a:prstGeom>
          <a:solidFill>
            <a:srgbClr val="00A6B4"/>
          </a:solidFill>
          <a:ln w="12700">
            <a:solidFill>
              <a:srgbClr val="00A6B4">
                <a:alpha val="0"/>
              </a:srgbClr>
            </a:solidFill>
            <a:prstDash val="solid"/>
          </a:ln>
        </p:spPr>
      </p:sp>
      <p:sp>
        <p:nvSpPr>
          <p:cNvPr id="25" name="Text 23"/>
          <p:cNvSpPr/>
          <p:nvPr/>
        </p:nvSpPr>
        <p:spPr>
          <a:xfrm>
            <a:off x="9509760" y="2880360"/>
            <a:ext cx="4572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p:txBody>
      </p:sp>
      <p:sp>
        <p:nvSpPr>
          <p:cNvPr id="26" name="Text 24"/>
          <p:cNvSpPr/>
          <p:nvPr/>
        </p:nvSpPr>
        <p:spPr>
          <a:xfrm>
            <a:off x="8897112" y="3749040"/>
            <a:ext cx="1691640" cy="777240"/>
          </a:xfrm>
          <a:prstGeom prst="rect">
            <a:avLst/>
          </a:prstGeom>
          <a:noFill/>
          <a:ln/>
        </p:spPr>
        <p:txBody>
          <a:bodyPr wrap="square" lIns="0" tIns="0" rIns="0" bIns="0" rtlCol="0" anchor="ctr">
            <a:normAutofit/>
          </a:bodyPr>
          <a:lstStyle/>
          <a:p>
            <a:pPr algn="ctr" indent="0" marL="0">
              <a:buNone/>
            </a:pPr>
            <a:r>
              <a:rPr lang="en-US" sz="2400" b="1" dirty="0">
                <a:solidFill>
                  <a:srgbClr val="102A43"/>
                </a:solidFill>
                <a:latin typeface="Arial" pitchFamily="34" charset="0"/>
                <a:ea typeface="Arial" pitchFamily="34" charset="-122"/>
                <a:cs typeface="Arial" pitchFamily="34" charset="-120"/>
              </a:rPr>
              <a:t>Pruebas y</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documentación</a:t>
            </a:r>
            <a:endParaRPr lang="en-US" sz="2400" dirty="0"/>
          </a:p>
        </p:txBody>
      </p:sp>
      <p:sp>
        <p:nvSpPr>
          <p:cNvPr id="27" name="Shape 25"/>
          <p:cNvSpPr/>
          <p:nvPr/>
        </p:nvSpPr>
        <p:spPr>
          <a:xfrm>
            <a:off x="914400" y="5184648"/>
            <a:ext cx="128016" cy="128016"/>
          </a:xfrm>
          <a:prstGeom prst="ellipse">
            <a:avLst/>
          </a:prstGeom>
          <a:solidFill>
            <a:srgbClr val="F2A900"/>
          </a:solidFill>
          <a:ln w="12700">
            <a:solidFill>
              <a:srgbClr val="F2A900">
                <a:alpha val="0"/>
              </a:srgbClr>
            </a:solidFill>
            <a:prstDash val="solid"/>
          </a:ln>
        </p:spPr>
      </p:sp>
      <p:sp>
        <p:nvSpPr>
          <p:cNvPr id="28" name="Text 26"/>
          <p:cNvSpPr/>
          <p:nvPr/>
        </p:nvSpPr>
        <p:spPr>
          <a:xfrm>
            <a:off x="1170432" y="5074920"/>
            <a:ext cx="9802368" cy="3657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Cada iteración produjo una versión verificable.</a:t>
            </a:r>
            <a:endParaRPr lang="en-US" sz="2400" dirty="0"/>
          </a:p>
        </p:txBody>
      </p:sp>
      <p:sp>
        <p:nvSpPr>
          <p:cNvPr id="29" name="Shape 27"/>
          <p:cNvSpPr/>
          <p:nvPr/>
        </p:nvSpPr>
        <p:spPr>
          <a:xfrm>
            <a:off x="914400" y="5596128"/>
            <a:ext cx="128016" cy="128016"/>
          </a:xfrm>
          <a:prstGeom prst="ellipse">
            <a:avLst/>
          </a:prstGeom>
          <a:solidFill>
            <a:srgbClr val="F2A900"/>
          </a:solidFill>
          <a:ln w="12700">
            <a:solidFill>
              <a:srgbClr val="F2A900">
                <a:alpha val="0"/>
              </a:srgbClr>
            </a:solidFill>
            <a:prstDash val="solid"/>
          </a:ln>
        </p:spPr>
      </p:sp>
      <p:sp>
        <p:nvSpPr>
          <p:cNvPr id="30" name="Text 28"/>
          <p:cNvSpPr/>
          <p:nvPr/>
        </p:nvSpPr>
        <p:spPr>
          <a:xfrm>
            <a:off x="1170432" y="5486400"/>
            <a:ext cx="9802368" cy="3657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La integración permitió corregir validaciones y flujos.</a:t>
            </a:r>
            <a:endParaRPr lang="en-US" sz="2400" dirty="0"/>
          </a:p>
        </p:txBody>
      </p:sp>
      <p:sp>
        <p:nvSpPr>
          <p:cNvPr id="31" name="Shape 29"/>
          <p:cNvSpPr/>
          <p:nvPr/>
        </p:nvSpPr>
        <p:spPr>
          <a:xfrm>
            <a:off x="914400" y="6007608"/>
            <a:ext cx="128016" cy="128016"/>
          </a:xfrm>
          <a:prstGeom prst="ellipse">
            <a:avLst/>
          </a:prstGeom>
          <a:solidFill>
            <a:srgbClr val="F2A900"/>
          </a:solidFill>
          <a:ln w="12700">
            <a:solidFill>
              <a:srgbClr val="F2A900">
                <a:alpha val="0"/>
              </a:srgbClr>
            </a:solidFill>
            <a:prstDash val="solid"/>
          </a:ln>
        </p:spPr>
      </p:sp>
      <p:sp>
        <p:nvSpPr>
          <p:cNvPr id="32" name="Text 30"/>
          <p:cNvSpPr/>
          <p:nvPr/>
        </p:nvSpPr>
        <p:spPr>
          <a:xfrm>
            <a:off x="1170432" y="5897880"/>
            <a:ext cx="9802368" cy="3657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La memoria describe el sistema real implementado.</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4. Tecnologías y herramientas</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Base tecnológica del proyecto</a:t>
            </a:r>
            <a:endParaRPr lang="en-US" sz="2400" dirty="0"/>
          </a:p>
        </p:txBody>
      </p:sp>
      <p:sp>
        <p:nvSpPr>
          <p:cNvPr id="8" name="Shape 6"/>
          <p:cNvSpPr/>
          <p:nvPr/>
        </p:nvSpPr>
        <p:spPr>
          <a:xfrm>
            <a:off x="685800" y="1508760"/>
            <a:ext cx="2514600" cy="960120"/>
          </a:xfrm>
          <a:prstGeom prst="roundRect">
            <a:avLst>
              <a:gd name="adj" fmla="val 7619"/>
            </a:avLst>
          </a:prstGeom>
          <a:solidFill>
            <a:srgbClr val="FFFFFF"/>
          </a:solidFill>
          <a:ln w="12700">
            <a:solidFill>
              <a:srgbClr val="00A6B4"/>
            </a:solidFill>
            <a:prstDash val="solid"/>
          </a:ln>
        </p:spPr>
      </p:sp>
      <p:sp>
        <p:nvSpPr>
          <p:cNvPr id="9" name="Text 7"/>
          <p:cNvSpPr/>
          <p:nvPr/>
        </p:nvSpPr>
        <p:spPr>
          <a:xfrm>
            <a:off x="822960" y="161848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Python</a:t>
            </a:r>
            <a:endParaRPr lang="en-US" sz="2400" dirty="0"/>
          </a:p>
        </p:txBody>
      </p:sp>
      <p:sp>
        <p:nvSpPr>
          <p:cNvPr id="10" name="Text 8"/>
          <p:cNvSpPr/>
          <p:nvPr/>
        </p:nvSpPr>
        <p:spPr>
          <a:xfrm>
            <a:off x="822960" y="201168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Backend</a:t>
            </a:r>
            <a:endParaRPr lang="en-US" sz="2400" dirty="0"/>
          </a:p>
        </p:txBody>
      </p:sp>
      <p:sp>
        <p:nvSpPr>
          <p:cNvPr id="11" name="Shape 9"/>
          <p:cNvSpPr/>
          <p:nvPr/>
        </p:nvSpPr>
        <p:spPr>
          <a:xfrm>
            <a:off x="3520440" y="1508760"/>
            <a:ext cx="2514600" cy="960120"/>
          </a:xfrm>
          <a:prstGeom prst="roundRect">
            <a:avLst>
              <a:gd name="adj" fmla="val 7619"/>
            </a:avLst>
          </a:prstGeom>
          <a:solidFill>
            <a:srgbClr val="FFFFFF"/>
          </a:solidFill>
          <a:ln w="12700">
            <a:solidFill>
              <a:srgbClr val="00A6B4"/>
            </a:solidFill>
            <a:prstDash val="solid"/>
          </a:ln>
        </p:spPr>
      </p:sp>
      <p:sp>
        <p:nvSpPr>
          <p:cNvPr id="12" name="Text 10"/>
          <p:cNvSpPr/>
          <p:nvPr/>
        </p:nvSpPr>
        <p:spPr>
          <a:xfrm>
            <a:off x="3657600" y="161848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FastAPI</a:t>
            </a:r>
            <a:endParaRPr lang="en-US" sz="2400" dirty="0"/>
          </a:p>
        </p:txBody>
      </p:sp>
      <p:sp>
        <p:nvSpPr>
          <p:cNvPr id="13" name="Text 11"/>
          <p:cNvSpPr/>
          <p:nvPr/>
        </p:nvSpPr>
        <p:spPr>
          <a:xfrm>
            <a:off x="3657600" y="201168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API REST</a:t>
            </a:r>
            <a:endParaRPr lang="en-US" sz="2400" dirty="0"/>
          </a:p>
        </p:txBody>
      </p:sp>
      <p:sp>
        <p:nvSpPr>
          <p:cNvPr id="14" name="Shape 12"/>
          <p:cNvSpPr/>
          <p:nvPr/>
        </p:nvSpPr>
        <p:spPr>
          <a:xfrm>
            <a:off x="6355080" y="1508760"/>
            <a:ext cx="2514600" cy="960120"/>
          </a:xfrm>
          <a:prstGeom prst="roundRect">
            <a:avLst>
              <a:gd name="adj" fmla="val 7619"/>
            </a:avLst>
          </a:prstGeom>
          <a:solidFill>
            <a:srgbClr val="FFFFFF"/>
          </a:solidFill>
          <a:ln w="12700">
            <a:solidFill>
              <a:srgbClr val="00A6B4"/>
            </a:solidFill>
            <a:prstDash val="solid"/>
          </a:ln>
        </p:spPr>
      </p:sp>
      <p:sp>
        <p:nvSpPr>
          <p:cNvPr id="15" name="Text 13"/>
          <p:cNvSpPr/>
          <p:nvPr/>
        </p:nvSpPr>
        <p:spPr>
          <a:xfrm>
            <a:off x="6492240" y="161848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SQLAlchemy</a:t>
            </a:r>
            <a:endParaRPr lang="en-US" sz="2400" dirty="0"/>
          </a:p>
        </p:txBody>
      </p:sp>
      <p:sp>
        <p:nvSpPr>
          <p:cNvPr id="16" name="Text 14"/>
          <p:cNvSpPr/>
          <p:nvPr/>
        </p:nvSpPr>
        <p:spPr>
          <a:xfrm>
            <a:off x="6492240" y="201168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ORM</a:t>
            </a:r>
            <a:endParaRPr lang="en-US" sz="2400" dirty="0"/>
          </a:p>
        </p:txBody>
      </p:sp>
      <p:sp>
        <p:nvSpPr>
          <p:cNvPr id="17" name="Shape 15"/>
          <p:cNvSpPr/>
          <p:nvPr/>
        </p:nvSpPr>
        <p:spPr>
          <a:xfrm>
            <a:off x="9189720" y="1508760"/>
            <a:ext cx="2514600" cy="960120"/>
          </a:xfrm>
          <a:prstGeom prst="roundRect">
            <a:avLst>
              <a:gd name="adj" fmla="val 7619"/>
            </a:avLst>
          </a:prstGeom>
          <a:solidFill>
            <a:srgbClr val="FFFFFF"/>
          </a:solidFill>
          <a:ln w="12700">
            <a:solidFill>
              <a:srgbClr val="00A6B4"/>
            </a:solidFill>
            <a:prstDash val="solid"/>
          </a:ln>
        </p:spPr>
      </p:sp>
      <p:sp>
        <p:nvSpPr>
          <p:cNvPr id="18" name="Text 16"/>
          <p:cNvSpPr/>
          <p:nvPr/>
        </p:nvSpPr>
        <p:spPr>
          <a:xfrm>
            <a:off x="9326880" y="161848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MySQL</a:t>
            </a:r>
            <a:endParaRPr lang="en-US" sz="2400" dirty="0"/>
          </a:p>
        </p:txBody>
      </p:sp>
      <p:sp>
        <p:nvSpPr>
          <p:cNvPr id="19" name="Text 17"/>
          <p:cNvSpPr/>
          <p:nvPr/>
        </p:nvSpPr>
        <p:spPr>
          <a:xfrm>
            <a:off x="9326880" y="201168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BBDD relacional</a:t>
            </a:r>
            <a:endParaRPr lang="en-US" sz="2400" dirty="0"/>
          </a:p>
        </p:txBody>
      </p:sp>
      <p:sp>
        <p:nvSpPr>
          <p:cNvPr id="20" name="Shape 18"/>
          <p:cNvSpPr/>
          <p:nvPr/>
        </p:nvSpPr>
        <p:spPr>
          <a:xfrm>
            <a:off x="685800" y="2834640"/>
            <a:ext cx="2514600" cy="960120"/>
          </a:xfrm>
          <a:prstGeom prst="roundRect">
            <a:avLst>
              <a:gd name="adj" fmla="val 7619"/>
            </a:avLst>
          </a:prstGeom>
          <a:solidFill>
            <a:srgbClr val="FFFFFF"/>
          </a:solidFill>
          <a:ln w="12700">
            <a:solidFill>
              <a:srgbClr val="00A6B4"/>
            </a:solidFill>
            <a:prstDash val="solid"/>
          </a:ln>
        </p:spPr>
      </p:sp>
      <p:sp>
        <p:nvSpPr>
          <p:cNvPr id="21" name="Text 19"/>
          <p:cNvSpPr/>
          <p:nvPr/>
        </p:nvSpPr>
        <p:spPr>
          <a:xfrm>
            <a:off x="822960" y="294436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React</a:t>
            </a:r>
            <a:endParaRPr lang="en-US" sz="2400" dirty="0"/>
          </a:p>
        </p:txBody>
      </p:sp>
      <p:sp>
        <p:nvSpPr>
          <p:cNvPr id="22" name="Text 20"/>
          <p:cNvSpPr/>
          <p:nvPr/>
        </p:nvSpPr>
        <p:spPr>
          <a:xfrm>
            <a:off x="822960" y="333756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Interfaz</a:t>
            </a:r>
            <a:endParaRPr lang="en-US" sz="2400" dirty="0"/>
          </a:p>
        </p:txBody>
      </p:sp>
      <p:sp>
        <p:nvSpPr>
          <p:cNvPr id="23" name="Shape 21"/>
          <p:cNvSpPr/>
          <p:nvPr/>
        </p:nvSpPr>
        <p:spPr>
          <a:xfrm>
            <a:off x="3520440" y="2834640"/>
            <a:ext cx="2514600" cy="960120"/>
          </a:xfrm>
          <a:prstGeom prst="roundRect">
            <a:avLst>
              <a:gd name="adj" fmla="val 7619"/>
            </a:avLst>
          </a:prstGeom>
          <a:solidFill>
            <a:srgbClr val="FFFFFF"/>
          </a:solidFill>
          <a:ln w="12700">
            <a:solidFill>
              <a:srgbClr val="00A6B4"/>
            </a:solidFill>
            <a:prstDash val="solid"/>
          </a:ln>
        </p:spPr>
      </p:sp>
      <p:sp>
        <p:nvSpPr>
          <p:cNvPr id="24" name="Text 22"/>
          <p:cNvSpPr/>
          <p:nvPr/>
        </p:nvSpPr>
        <p:spPr>
          <a:xfrm>
            <a:off x="3657600" y="294436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Vite</a:t>
            </a:r>
            <a:endParaRPr lang="en-US" sz="2400" dirty="0"/>
          </a:p>
        </p:txBody>
      </p:sp>
      <p:sp>
        <p:nvSpPr>
          <p:cNvPr id="25" name="Text 23"/>
          <p:cNvSpPr/>
          <p:nvPr/>
        </p:nvSpPr>
        <p:spPr>
          <a:xfrm>
            <a:off x="3657600" y="333756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Build frontend</a:t>
            </a:r>
            <a:endParaRPr lang="en-US" sz="2400" dirty="0"/>
          </a:p>
        </p:txBody>
      </p:sp>
      <p:sp>
        <p:nvSpPr>
          <p:cNvPr id="26" name="Shape 24"/>
          <p:cNvSpPr/>
          <p:nvPr/>
        </p:nvSpPr>
        <p:spPr>
          <a:xfrm>
            <a:off x="6355080" y="2834640"/>
            <a:ext cx="2514600" cy="960120"/>
          </a:xfrm>
          <a:prstGeom prst="roundRect">
            <a:avLst>
              <a:gd name="adj" fmla="val 7619"/>
            </a:avLst>
          </a:prstGeom>
          <a:solidFill>
            <a:srgbClr val="FFFFFF"/>
          </a:solidFill>
          <a:ln w="12700">
            <a:solidFill>
              <a:srgbClr val="00A6B4"/>
            </a:solidFill>
            <a:prstDash val="solid"/>
          </a:ln>
        </p:spPr>
      </p:sp>
      <p:sp>
        <p:nvSpPr>
          <p:cNvPr id="27" name="Text 25"/>
          <p:cNvSpPr/>
          <p:nvPr/>
        </p:nvSpPr>
        <p:spPr>
          <a:xfrm>
            <a:off x="6492240" y="294436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JavaScript</a:t>
            </a:r>
            <a:endParaRPr lang="en-US" sz="2400" dirty="0"/>
          </a:p>
        </p:txBody>
      </p:sp>
      <p:sp>
        <p:nvSpPr>
          <p:cNvPr id="28" name="Text 26"/>
          <p:cNvSpPr/>
          <p:nvPr/>
        </p:nvSpPr>
        <p:spPr>
          <a:xfrm>
            <a:off x="6492240" y="333756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Cliente</a:t>
            </a:r>
            <a:endParaRPr lang="en-US" sz="2400" dirty="0"/>
          </a:p>
        </p:txBody>
      </p:sp>
      <p:sp>
        <p:nvSpPr>
          <p:cNvPr id="29" name="Shape 27"/>
          <p:cNvSpPr/>
          <p:nvPr/>
        </p:nvSpPr>
        <p:spPr>
          <a:xfrm>
            <a:off x="9189720" y="2834640"/>
            <a:ext cx="2514600" cy="960120"/>
          </a:xfrm>
          <a:prstGeom prst="roundRect">
            <a:avLst>
              <a:gd name="adj" fmla="val 7619"/>
            </a:avLst>
          </a:prstGeom>
          <a:solidFill>
            <a:srgbClr val="FFFFFF"/>
          </a:solidFill>
          <a:ln w="12700">
            <a:solidFill>
              <a:srgbClr val="00A6B4"/>
            </a:solidFill>
            <a:prstDash val="solid"/>
          </a:ln>
        </p:spPr>
      </p:sp>
      <p:sp>
        <p:nvSpPr>
          <p:cNvPr id="30" name="Text 28"/>
          <p:cNvSpPr/>
          <p:nvPr/>
        </p:nvSpPr>
        <p:spPr>
          <a:xfrm>
            <a:off x="9326880" y="294436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HTML/CSS</a:t>
            </a:r>
            <a:endParaRPr lang="en-US" sz="2400" dirty="0"/>
          </a:p>
        </p:txBody>
      </p:sp>
      <p:sp>
        <p:nvSpPr>
          <p:cNvPr id="31" name="Text 29"/>
          <p:cNvSpPr/>
          <p:nvPr/>
        </p:nvSpPr>
        <p:spPr>
          <a:xfrm>
            <a:off x="9326880" y="333756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Estructura y estilos</a:t>
            </a:r>
            <a:endParaRPr lang="en-US" sz="2400" dirty="0"/>
          </a:p>
        </p:txBody>
      </p:sp>
      <p:sp>
        <p:nvSpPr>
          <p:cNvPr id="32" name="Shape 30"/>
          <p:cNvSpPr/>
          <p:nvPr/>
        </p:nvSpPr>
        <p:spPr>
          <a:xfrm>
            <a:off x="685800" y="4160520"/>
            <a:ext cx="2514600" cy="960120"/>
          </a:xfrm>
          <a:prstGeom prst="roundRect">
            <a:avLst>
              <a:gd name="adj" fmla="val 7619"/>
            </a:avLst>
          </a:prstGeom>
          <a:solidFill>
            <a:srgbClr val="FFFFFF"/>
          </a:solidFill>
          <a:ln w="12700">
            <a:solidFill>
              <a:srgbClr val="00A6B4"/>
            </a:solidFill>
            <a:prstDash val="solid"/>
          </a:ln>
        </p:spPr>
      </p:sp>
      <p:sp>
        <p:nvSpPr>
          <p:cNvPr id="33" name="Text 31"/>
          <p:cNvSpPr/>
          <p:nvPr/>
        </p:nvSpPr>
        <p:spPr>
          <a:xfrm>
            <a:off x="822960" y="427024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Pydantic</a:t>
            </a:r>
            <a:endParaRPr lang="en-US" sz="2400" dirty="0"/>
          </a:p>
        </p:txBody>
      </p:sp>
      <p:sp>
        <p:nvSpPr>
          <p:cNvPr id="34" name="Text 32"/>
          <p:cNvSpPr/>
          <p:nvPr/>
        </p:nvSpPr>
        <p:spPr>
          <a:xfrm>
            <a:off x="822960" y="466344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Validación</a:t>
            </a:r>
            <a:endParaRPr lang="en-US" sz="2400" dirty="0"/>
          </a:p>
        </p:txBody>
      </p:sp>
      <p:sp>
        <p:nvSpPr>
          <p:cNvPr id="35" name="Shape 33"/>
          <p:cNvSpPr/>
          <p:nvPr/>
        </p:nvSpPr>
        <p:spPr>
          <a:xfrm>
            <a:off x="3520440" y="4160520"/>
            <a:ext cx="2514600" cy="960120"/>
          </a:xfrm>
          <a:prstGeom prst="roundRect">
            <a:avLst>
              <a:gd name="adj" fmla="val 7619"/>
            </a:avLst>
          </a:prstGeom>
          <a:solidFill>
            <a:srgbClr val="FFFFFF"/>
          </a:solidFill>
          <a:ln w="12700">
            <a:solidFill>
              <a:srgbClr val="00A6B4"/>
            </a:solidFill>
            <a:prstDash val="solid"/>
          </a:ln>
        </p:spPr>
      </p:sp>
      <p:sp>
        <p:nvSpPr>
          <p:cNvPr id="36" name="Text 34"/>
          <p:cNvSpPr/>
          <p:nvPr/>
        </p:nvSpPr>
        <p:spPr>
          <a:xfrm>
            <a:off x="3657600" y="427024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Uvicorn</a:t>
            </a:r>
            <a:endParaRPr lang="en-US" sz="2400" dirty="0"/>
          </a:p>
        </p:txBody>
      </p:sp>
      <p:sp>
        <p:nvSpPr>
          <p:cNvPr id="37" name="Text 35"/>
          <p:cNvSpPr/>
          <p:nvPr/>
        </p:nvSpPr>
        <p:spPr>
          <a:xfrm>
            <a:off x="3657600" y="466344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Servidor local</a:t>
            </a:r>
            <a:endParaRPr lang="en-US" sz="2400" dirty="0"/>
          </a:p>
        </p:txBody>
      </p:sp>
      <p:sp>
        <p:nvSpPr>
          <p:cNvPr id="38" name="Shape 36"/>
          <p:cNvSpPr/>
          <p:nvPr/>
        </p:nvSpPr>
        <p:spPr>
          <a:xfrm>
            <a:off x="6355080" y="4160520"/>
            <a:ext cx="2514600" cy="960120"/>
          </a:xfrm>
          <a:prstGeom prst="roundRect">
            <a:avLst>
              <a:gd name="adj" fmla="val 7619"/>
            </a:avLst>
          </a:prstGeom>
          <a:solidFill>
            <a:srgbClr val="FFFFFF"/>
          </a:solidFill>
          <a:ln w="12700">
            <a:solidFill>
              <a:srgbClr val="00A6B4"/>
            </a:solidFill>
            <a:prstDash val="solid"/>
          </a:ln>
        </p:spPr>
      </p:sp>
      <p:sp>
        <p:nvSpPr>
          <p:cNvPr id="39" name="Text 37"/>
          <p:cNvSpPr/>
          <p:nvPr/>
        </p:nvSpPr>
        <p:spPr>
          <a:xfrm>
            <a:off x="6492240" y="427024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Workbench</a:t>
            </a:r>
            <a:endParaRPr lang="en-US" sz="2400" dirty="0"/>
          </a:p>
        </p:txBody>
      </p:sp>
      <p:sp>
        <p:nvSpPr>
          <p:cNvPr id="40" name="Text 38"/>
          <p:cNvSpPr/>
          <p:nvPr/>
        </p:nvSpPr>
        <p:spPr>
          <a:xfrm>
            <a:off x="6492240" y="466344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Gestión SQL</a:t>
            </a:r>
            <a:endParaRPr lang="en-US" sz="2400" dirty="0"/>
          </a:p>
        </p:txBody>
      </p:sp>
      <p:sp>
        <p:nvSpPr>
          <p:cNvPr id="41" name="Shape 39"/>
          <p:cNvSpPr/>
          <p:nvPr/>
        </p:nvSpPr>
        <p:spPr>
          <a:xfrm>
            <a:off x="9189720" y="4160520"/>
            <a:ext cx="2514600" cy="960120"/>
          </a:xfrm>
          <a:prstGeom prst="roundRect">
            <a:avLst>
              <a:gd name="adj" fmla="val 7619"/>
            </a:avLst>
          </a:prstGeom>
          <a:solidFill>
            <a:srgbClr val="FFFFFF"/>
          </a:solidFill>
          <a:ln w="12700">
            <a:solidFill>
              <a:srgbClr val="00A6B4"/>
            </a:solidFill>
            <a:prstDash val="solid"/>
          </a:ln>
        </p:spPr>
      </p:sp>
      <p:sp>
        <p:nvSpPr>
          <p:cNvPr id="42" name="Text 40"/>
          <p:cNvSpPr/>
          <p:nvPr/>
        </p:nvSpPr>
        <p:spPr>
          <a:xfrm>
            <a:off x="9326880" y="4270248"/>
            <a:ext cx="2240280" cy="292608"/>
          </a:xfrm>
          <a:prstGeom prst="rect">
            <a:avLst/>
          </a:prstGeom>
          <a:noFill/>
          <a:ln/>
        </p:spPr>
        <p:txBody>
          <a:bodyPr wrap="square" lIns="0" tIns="0" rIns="0" bIns="0" rtlCol="0" anchor="ctr">
            <a:normAutofit/>
          </a:bodyPr>
          <a:lstStyle/>
          <a:p>
            <a:pPr algn="ctr" indent="0" marL="0">
              <a:buNone/>
            </a:pPr>
            <a:r>
              <a:rPr lang="en-US" sz="2400" b="1" dirty="0">
                <a:solidFill>
                  <a:srgbClr val="0B1F33"/>
                </a:solidFill>
                <a:latin typeface="Arial" pitchFamily="34" charset="0"/>
                <a:ea typeface="Arial" pitchFamily="34" charset="-122"/>
                <a:cs typeface="Arial" pitchFamily="34" charset="-120"/>
              </a:rPr>
              <a:t>JSON</a:t>
            </a:r>
            <a:endParaRPr lang="en-US" sz="2400" dirty="0"/>
          </a:p>
        </p:txBody>
      </p:sp>
      <p:sp>
        <p:nvSpPr>
          <p:cNvPr id="43" name="Text 41"/>
          <p:cNvSpPr/>
          <p:nvPr/>
        </p:nvSpPr>
        <p:spPr>
          <a:xfrm>
            <a:off x="9326880" y="4663440"/>
            <a:ext cx="2240280" cy="292608"/>
          </a:xfrm>
          <a:prstGeom prst="rect">
            <a:avLst/>
          </a:prstGeom>
          <a:noFill/>
          <a:ln/>
        </p:spPr>
        <p:txBody>
          <a:bodyPr wrap="square" lIns="0" tIns="0" rIns="0" bIns="0" rtlCol="0" anchor="ctr">
            <a:normAutofit/>
          </a:bodyPr>
          <a:lstStyle/>
          <a:p>
            <a:pPr algn="ctr" indent="0" marL="0">
              <a:buNone/>
            </a:pPr>
            <a:r>
              <a:rPr lang="en-US" sz="2400" dirty="0">
                <a:solidFill>
                  <a:srgbClr val="5B6B7A"/>
                </a:solidFill>
                <a:latin typeface="Arial" pitchFamily="34" charset="0"/>
                <a:ea typeface="Arial" pitchFamily="34" charset="-122"/>
                <a:cs typeface="Arial" pitchFamily="34" charset="-120"/>
              </a:rPr>
              <a:t>Intercambio</a:t>
            </a:r>
            <a:endParaRPr lang="en-US" sz="2400" dirty="0"/>
          </a:p>
        </p:txBody>
      </p:sp>
      <p:sp>
        <p:nvSpPr>
          <p:cNvPr id="44" name="Text 42"/>
          <p:cNvSpPr/>
          <p:nvPr/>
        </p:nvSpPr>
        <p:spPr>
          <a:xfrm>
            <a:off x="868680" y="5806440"/>
            <a:ext cx="10424160" cy="502920"/>
          </a:xfrm>
          <a:prstGeom prst="rect">
            <a:avLst/>
          </a:prstGeom>
          <a:noFill/>
          <a:ln/>
        </p:spPr>
        <p:txBody>
          <a:bodyPr wrap="square" lIns="0" tIns="0" rIns="0" bIns="0" rtlCol="0" anchor="ctr">
            <a:normAutofit/>
          </a:bodyPr>
          <a:lstStyle/>
          <a:p>
            <a:pPr algn="ctr" indent="0" marL="0">
              <a:buNone/>
            </a:pPr>
            <a:r>
              <a:rPr lang="en-US" sz="2400" dirty="0">
                <a:solidFill>
                  <a:srgbClr val="102A43"/>
                </a:solidFill>
                <a:latin typeface="Arial" pitchFamily="34" charset="0"/>
                <a:ea typeface="Arial" pitchFamily="34" charset="-122"/>
                <a:cs typeface="Arial" pitchFamily="34" charset="-120"/>
              </a:rPr>
              <a:t>Tecnologías justificadas por su relación con DAW, su utilidad para separar capas y su adecuación a un proyecto web académico.</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5. Planificación</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Estimación frente a tiempo real</a:t>
            </a:r>
            <a:endParaRPr lang="en-US" sz="2400" dirty="0"/>
          </a:p>
        </p:txBody>
      </p:sp>
      <p:sp>
        <p:nvSpPr>
          <p:cNvPr id="8" name="Shape 6"/>
          <p:cNvSpPr/>
          <p:nvPr/>
        </p:nvSpPr>
        <p:spPr>
          <a:xfrm>
            <a:off x="685800" y="1298448"/>
            <a:ext cx="10927080" cy="4709160"/>
          </a:xfrm>
          <a:prstGeom prst="roundRect">
            <a:avLst>
              <a:gd name="adj" fmla="val 1553"/>
            </a:avLst>
          </a:prstGeom>
          <a:solidFill>
            <a:srgbClr val="FFFFFF"/>
          </a:solidFill>
          <a:ln w="15240">
            <a:solidFill>
              <a:srgbClr val="D6E4E8"/>
            </a:solidFill>
            <a:prstDash val="solid"/>
          </a:ln>
        </p:spPr>
      </p:sp>
      <p:pic>
        <p:nvPicPr>
          <p:cNvPr id="9" name="Image 0" descr="/mnt/data/docx_media/word/media/image3.png">    </p:cNvPr>
          <p:cNvPicPr>
            <a:picLocks noChangeAspect="1"/>
          </p:cNvPicPr>
          <p:nvPr/>
        </p:nvPicPr>
        <p:blipFill>
          <a:blip r:embed="rId1"/>
          <a:stretch>
            <a:fillRect/>
          </a:stretch>
        </p:blipFill>
        <p:spPr>
          <a:xfrm>
            <a:off x="1868085" y="1508760"/>
            <a:ext cx="8562510" cy="4251960"/>
          </a:xfrm>
          <a:prstGeom prst="rect">
            <a:avLst/>
          </a:prstGeom>
        </p:spPr>
      </p:pic>
      <p:sp>
        <p:nvSpPr>
          <p:cNvPr id="10" name="Shape 7"/>
          <p:cNvSpPr/>
          <p:nvPr/>
        </p:nvSpPr>
        <p:spPr>
          <a:xfrm>
            <a:off x="2880360" y="6080760"/>
            <a:ext cx="3749040" cy="530352"/>
          </a:xfrm>
          <a:prstGeom prst="roundRect">
            <a:avLst>
              <a:gd name="adj" fmla="val 20690"/>
            </a:avLst>
          </a:prstGeom>
          <a:solidFill>
            <a:srgbClr val="F2A900"/>
          </a:solidFill>
          <a:ln w="12700">
            <a:solidFill>
              <a:srgbClr val="F2A900">
                <a:alpha val="0"/>
              </a:srgbClr>
            </a:solidFill>
            <a:prstDash val="solid"/>
          </a:ln>
        </p:spPr>
      </p:sp>
      <p:sp>
        <p:nvSpPr>
          <p:cNvPr id="11" name="Text 8"/>
          <p:cNvSpPr/>
          <p:nvPr/>
        </p:nvSpPr>
        <p:spPr>
          <a:xfrm>
            <a:off x="3017520" y="6208776"/>
            <a:ext cx="3474720" cy="256032"/>
          </a:xfrm>
          <a:prstGeom prst="rect">
            <a:avLst/>
          </a:prstGeom>
          <a:noFill/>
          <a:ln/>
        </p:spPr>
        <p:txBody>
          <a:bodyPr wrap="square" lIns="0" tIns="0" rIns="0" bIns="0" rtlCol="0" anchor="ctr">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Mayor desviación: integración y pruebas</a:t>
            </a:r>
            <a:endParaRPr lang="en-US" sz="2400" dirty="0"/>
          </a:p>
        </p:txBody>
      </p:sp>
      <p:sp>
        <p:nvSpPr>
          <p:cNvPr id="12" name="Shape 9"/>
          <p:cNvSpPr/>
          <p:nvPr/>
        </p:nvSpPr>
        <p:spPr>
          <a:xfrm>
            <a:off x="6903720" y="6080760"/>
            <a:ext cx="3246120" cy="530352"/>
          </a:xfrm>
          <a:prstGeom prst="roundRect">
            <a:avLst>
              <a:gd name="adj" fmla="val 20690"/>
            </a:avLst>
          </a:prstGeom>
          <a:solidFill>
            <a:srgbClr val="00A6B4"/>
          </a:solidFill>
          <a:ln w="12700">
            <a:solidFill>
              <a:srgbClr val="00A6B4">
                <a:alpha val="0"/>
              </a:srgbClr>
            </a:solidFill>
            <a:prstDash val="solid"/>
          </a:ln>
        </p:spPr>
      </p:sp>
      <p:sp>
        <p:nvSpPr>
          <p:cNvPr id="13" name="Text 10"/>
          <p:cNvSpPr/>
          <p:nvPr/>
        </p:nvSpPr>
        <p:spPr>
          <a:xfrm>
            <a:off x="7040880" y="6208776"/>
            <a:ext cx="2971800" cy="256032"/>
          </a:xfrm>
          <a:prstGeom prst="rect">
            <a:avLst/>
          </a:prstGeom>
          <a:noFill/>
          <a:ln/>
        </p:spPr>
        <p:txBody>
          <a:bodyPr wrap="square" lIns="0" tIns="0" rIns="0" bIns="0" rtlCol="0" anchor="ctr">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Resultado: 11 semanas de trabajo</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5. Diagnóstico y contexto laboral</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DAFO de la propuesta</a:t>
            </a:r>
            <a:endParaRPr lang="en-US" sz="2400" dirty="0"/>
          </a:p>
        </p:txBody>
      </p:sp>
      <p:sp>
        <p:nvSpPr>
          <p:cNvPr id="8" name="Shape 6"/>
          <p:cNvSpPr/>
          <p:nvPr/>
        </p:nvSpPr>
        <p:spPr>
          <a:xfrm>
            <a:off x="777240" y="1417320"/>
            <a:ext cx="5074920" cy="1600200"/>
          </a:xfrm>
          <a:prstGeom prst="roundRect">
            <a:avLst>
              <a:gd name="adj" fmla="val 4571"/>
            </a:avLst>
          </a:prstGeom>
          <a:solidFill>
            <a:srgbClr val="FFFFFF"/>
          </a:solidFill>
          <a:ln w="19050">
            <a:solidFill>
              <a:srgbClr val="2CA58D"/>
            </a:solidFill>
            <a:prstDash val="solid"/>
          </a:ln>
        </p:spPr>
      </p:sp>
      <p:sp>
        <p:nvSpPr>
          <p:cNvPr id="9" name="Shape 7"/>
          <p:cNvSpPr/>
          <p:nvPr/>
        </p:nvSpPr>
        <p:spPr>
          <a:xfrm>
            <a:off x="777240" y="1417320"/>
            <a:ext cx="82296" cy="1600200"/>
          </a:xfrm>
          <a:prstGeom prst="rect">
            <a:avLst/>
          </a:prstGeom>
          <a:solidFill>
            <a:srgbClr val="2CA58D"/>
          </a:solidFill>
          <a:ln w="12700">
            <a:solidFill>
              <a:srgbClr val="2CA58D">
                <a:alpha val="0"/>
              </a:srgbClr>
            </a:solidFill>
            <a:prstDash val="solid"/>
          </a:ln>
        </p:spPr>
      </p:sp>
      <p:sp>
        <p:nvSpPr>
          <p:cNvPr id="10" name="Text 8"/>
          <p:cNvSpPr/>
          <p:nvPr/>
        </p:nvSpPr>
        <p:spPr>
          <a:xfrm>
            <a:off x="1005840" y="1554480"/>
            <a:ext cx="470916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Fortalezas</a:t>
            </a:r>
            <a:endParaRPr lang="en-US" sz="2400" dirty="0"/>
          </a:p>
        </p:txBody>
      </p:sp>
      <p:sp>
        <p:nvSpPr>
          <p:cNvPr id="11" name="Text 9"/>
          <p:cNvSpPr/>
          <p:nvPr/>
        </p:nvSpPr>
        <p:spPr>
          <a:xfrm>
            <a:off x="1005840" y="1984248"/>
            <a:ext cx="4709160" cy="94183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Arquitectura por capas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Funcionalidades conectadas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Proyecto defendible</a:t>
            </a:r>
            <a:endParaRPr lang="en-US" sz="2400" dirty="0"/>
          </a:p>
        </p:txBody>
      </p:sp>
      <p:sp>
        <p:nvSpPr>
          <p:cNvPr id="12" name="Shape 10"/>
          <p:cNvSpPr/>
          <p:nvPr/>
        </p:nvSpPr>
        <p:spPr>
          <a:xfrm>
            <a:off x="6400800" y="1417320"/>
            <a:ext cx="5074920" cy="1600200"/>
          </a:xfrm>
          <a:prstGeom prst="roundRect">
            <a:avLst>
              <a:gd name="adj" fmla="val 4571"/>
            </a:avLst>
          </a:prstGeom>
          <a:solidFill>
            <a:srgbClr val="FFFFFF"/>
          </a:solidFill>
          <a:ln w="19050">
            <a:solidFill>
              <a:srgbClr val="F2A900"/>
            </a:solidFill>
            <a:prstDash val="solid"/>
          </a:ln>
        </p:spPr>
      </p:sp>
      <p:sp>
        <p:nvSpPr>
          <p:cNvPr id="13" name="Shape 11"/>
          <p:cNvSpPr/>
          <p:nvPr/>
        </p:nvSpPr>
        <p:spPr>
          <a:xfrm>
            <a:off x="6400800" y="1417320"/>
            <a:ext cx="82296" cy="1600200"/>
          </a:xfrm>
          <a:prstGeom prst="rect">
            <a:avLst/>
          </a:prstGeom>
          <a:solidFill>
            <a:srgbClr val="F2A900"/>
          </a:solidFill>
          <a:ln w="12700">
            <a:solidFill>
              <a:srgbClr val="F2A900">
                <a:alpha val="0"/>
              </a:srgbClr>
            </a:solidFill>
            <a:prstDash val="solid"/>
          </a:ln>
        </p:spPr>
      </p:sp>
      <p:sp>
        <p:nvSpPr>
          <p:cNvPr id="14" name="Text 12"/>
          <p:cNvSpPr/>
          <p:nvPr/>
        </p:nvSpPr>
        <p:spPr>
          <a:xfrm>
            <a:off x="6629400" y="1554480"/>
            <a:ext cx="470916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Debilidades</a:t>
            </a:r>
            <a:endParaRPr lang="en-US" sz="2400" dirty="0"/>
          </a:p>
        </p:txBody>
      </p:sp>
      <p:sp>
        <p:nvSpPr>
          <p:cNvPr id="15" name="Text 13"/>
          <p:cNvSpPr/>
          <p:nvPr/>
        </p:nvSpPr>
        <p:spPr>
          <a:xfrm>
            <a:off x="6629400" y="1984248"/>
            <a:ext cx="4709160" cy="94183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Seguridad básica</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Sin despliegue remoto</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Alcance clínico limitado</a:t>
            </a:r>
            <a:endParaRPr lang="en-US" sz="2400" dirty="0"/>
          </a:p>
        </p:txBody>
      </p:sp>
      <p:sp>
        <p:nvSpPr>
          <p:cNvPr id="16" name="Shape 14"/>
          <p:cNvSpPr/>
          <p:nvPr/>
        </p:nvSpPr>
        <p:spPr>
          <a:xfrm>
            <a:off x="777240" y="3474720"/>
            <a:ext cx="5074920" cy="1600200"/>
          </a:xfrm>
          <a:prstGeom prst="roundRect">
            <a:avLst>
              <a:gd name="adj" fmla="val 4571"/>
            </a:avLst>
          </a:prstGeom>
          <a:solidFill>
            <a:srgbClr val="FFFFFF"/>
          </a:solidFill>
          <a:ln w="19050">
            <a:solidFill>
              <a:srgbClr val="00A6B4"/>
            </a:solidFill>
            <a:prstDash val="solid"/>
          </a:ln>
        </p:spPr>
      </p:sp>
      <p:sp>
        <p:nvSpPr>
          <p:cNvPr id="17" name="Shape 15"/>
          <p:cNvSpPr/>
          <p:nvPr/>
        </p:nvSpPr>
        <p:spPr>
          <a:xfrm>
            <a:off x="777240" y="3474720"/>
            <a:ext cx="82296" cy="1600200"/>
          </a:xfrm>
          <a:prstGeom prst="rect">
            <a:avLst/>
          </a:prstGeom>
          <a:solidFill>
            <a:srgbClr val="00A6B4"/>
          </a:solidFill>
          <a:ln w="12700">
            <a:solidFill>
              <a:srgbClr val="00A6B4">
                <a:alpha val="0"/>
              </a:srgbClr>
            </a:solidFill>
            <a:prstDash val="solid"/>
          </a:ln>
        </p:spPr>
      </p:sp>
      <p:sp>
        <p:nvSpPr>
          <p:cNvPr id="18" name="Text 16"/>
          <p:cNvSpPr/>
          <p:nvPr/>
        </p:nvSpPr>
        <p:spPr>
          <a:xfrm>
            <a:off x="1005840" y="3611880"/>
            <a:ext cx="470916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Oportunidades</a:t>
            </a:r>
            <a:endParaRPr lang="en-US" sz="2400" dirty="0"/>
          </a:p>
        </p:txBody>
      </p:sp>
      <p:sp>
        <p:nvSpPr>
          <p:cNvPr id="19" name="Text 17"/>
          <p:cNvSpPr/>
          <p:nvPr/>
        </p:nvSpPr>
        <p:spPr>
          <a:xfrm>
            <a:off x="1005840" y="4041648"/>
            <a:ext cx="4709160" cy="94183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Digitalización sanitaria</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Recordatorios y analítica</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Evolución cloud</a:t>
            </a:r>
            <a:endParaRPr lang="en-US" sz="2400" dirty="0"/>
          </a:p>
        </p:txBody>
      </p:sp>
      <p:sp>
        <p:nvSpPr>
          <p:cNvPr id="20" name="Shape 18"/>
          <p:cNvSpPr/>
          <p:nvPr/>
        </p:nvSpPr>
        <p:spPr>
          <a:xfrm>
            <a:off x="6400800" y="3474720"/>
            <a:ext cx="5074920" cy="1600200"/>
          </a:xfrm>
          <a:prstGeom prst="roundRect">
            <a:avLst>
              <a:gd name="adj" fmla="val 4571"/>
            </a:avLst>
          </a:prstGeom>
          <a:solidFill>
            <a:srgbClr val="FFFFFF"/>
          </a:solidFill>
          <a:ln w="19050">
            <a:solidFill>
              <a:srgbClr val="D64B4B"/>
            </a:solidFill>
            <a:prstDash val="solid"/>
          </a:ln>
        </p:spPr>
      </p:sp>
      <p:sp>
        <p:nvSpPr>
          <p:cNvPr id="21" name="Shape 19"/>
          <p:cNvSpPr/>
          <p:nvPr/>
        </p:nvSpPr>
        <p:spPr>
          <a:xfrm>
            <a:off x="6400800" y="3474720"/>
            <a:ext cx="82296" cy="1600200"/>
          </a:xfrm>
          <a:prstGeom prst="rect">
            <a:avLst/>
          </a:prstGeom>
          <a:solidFill>
            <a:srgbClr val="D64B4B"/>
          </a:solidFill>
          <a:ln w="12700">
            <a:solidFill>
              <a:srgbClr val="D64B4B">
                <a:alpha val="0"/>
              </a:srgbClr>
            </a:solidFill>
            <a:prstDash val="solid"/>
          </a:ln>
        </p:spPr>
      </p:sp>
      <p:sp>
        <p:nvSpPr>
          <p:cNvPr id="22" name="Text 20"/>
          <p:cNvSpPr/>
          <p:nvPr/>
        </p:nvSpPr>
        <p:spPr>
          <a:xfrm>
            <a:off x="6629400" y="3611880"/>
            <a:ext cx="470916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Amenazas</a:t>
            </a:r>
            <a:endParaRPr lang="en-US" sz="2400" dirty="0"/>
          </a:p>
        </p:txBody>
      </p:sp>
      <p:sp>
        <p:nvSpPr>
          <p:cNvPr id="23" name="Text 21"/>
          <p:cNvSpPr/>
          <p:nvPr/>
        </p:nvSpPr>
        <p:spPr>
          <a:xfrm>
            <a:off x="6629400" y="4041648"/>
            <a:ext cx="4709160" cy="94183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Normativa de salud</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Competencia profesional</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Mantenimiento continuo</a:t>
            </a:r>
            <a:endParaRPr lang="en-US" sz="2400" dirty="0"/>
          </a:p>
        </p:txBody>
      </p:sp>
      <p:sp>
        <p:nvSpPr>
          <p:cNvPr id="24" name="Text 22"/>
          <p:cNvSpPr/>
          <p:nvPr/>
        </p:nvSpPr>
        <p:spPr>
          <a:xfrm>
            <a:off x="960120" y="5715000"/>
            <a:ext cx="10241280" cy="594360"/>
          </a:xfrm>
          <a:prstGeom prst="rect">
            <a:avLst/>
          </a:prstGeom>
          <a:noFill/>
          <a:ln/>
        </p:spPr>
        <p:txBody>
          <a:bodyPr wrap="square" lIns="0" tIns="0" rIns="0" bIns="0" rtlCol="0" anchor="ctr">
            <a:normAutofit/>
          </a:bodyPr>
          <a:lstStyle/>
          <a:p>
            <a:pPr algn="ctr" indent="0" marL="0">
              <a:buNone/>
            </a:pPr>
            <a:r>
              <a:rPr lang="en-US" sz="2400" dirty="0">
                <a:solidFill>
                  <a:srgbClr val="102A43"/>
                </a:solidFill>
                <a:latin typeface="Arial" pitchFamily="34" charset="0"/>
                <a:ea typeface="Arial" pitchFamily="34" charset="-122"/>
                <a:cs typeface="Arial" pitchFamily="34" charset="-120"/>
              </a:rPr>
              <a:t>Contexto laboral: solución web a medida para pequeñas consultas odontológicas, con evolución gradual hacia seguridad, copias y normativa.</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6. Análisis del proyecto</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Actores y responsabilidades</a:t>
            </a:r>
            <a:endParaRPr lang="en-US" sz="2400" dirty="0"/>
          </a:p>
        </p:txBody>
      </p:sp>
      <p:sp>
        <p:nvSpPr>
          <p:cNvPr id="8" name="Shape 6"/>
          <p:cNvSpPr/>
          <p:nvPr/>
        </p:nvSpPr>
        <p:spPr>
          <a:xfrm>
            <a:off x="3337560" y="3730752"/>
            <a:ext cx="1371600" cy="-804672"/>
          </a:xfrm>
          <a:prstGeom prst="line">
            <a:avLst/>
          </a:prstGeom>
          <a:noFill/>
          <a:ln w="25400">
            <a:solidFill>
              <a:srgbClr val="00A6B4"/>
            </a:solidFill>
            <a:prstDash val="solid"/>
            <a:headEnd type="none"/>
            <a:tailEnd type="triangle"/>
          </a:ln>
        </p:spPr>
      </p:sp>
      <p:sp>
        <p:nvSpPr>
          <p:cNvPr id="9" name="Shape 7"/>
          <p:cNvSpPr/>
          <p:nvPr/>
        </p:nvSpPr>
        <p:spPr>
          <a:xfrm>
            <a:off x="8869680" y="3730752"/>
            <a:ext cx="-1371600" cy="-804672"/>
          </a:xfrm>
          <a:prstGeom prst="line">
            <a:avLst/>
          </a:prstGeom>
          <a:noFill/>
          <a:ln w="25400">
            <a:solidFill>
              <a:srgbClr val="00A6B4"/>
            </a:solidFill>
            <a:prstDash val="solid"/>
            <a:headEnd type="none"/>
            <a:tailEnd type="triangle"/>
          </a:ln>
        </p:spPr>
      </p:sp>
      <p:sp>
        <p:nvSpPr>
          <p:cNvPr id="10" name="Shape 8"/>
          <p:cNvSpPr/>
          <p:nvPr/>
        </p:nvSpPr>
        <p:spPr>
          <a:xfrm>
            <a:off x="4709160" y="2057400"/>
            <a:ext cx="2788920" cy="1737360"/>
          </a:xfrm>
          <a:prstGeom prst="roundRect">
            <a:avLst>
              <a:gd name="adj" fmla="val 4211"/>
            </a:avLst>
          </a:prstGeom>
          <a:solidFill>
            <a:srgbClr val="FFFFFF"/>
          </a:solidFill>
          <a:ln w="19050">
            <a:solidFill>
              <a:srgbClr val="00A6B4"/>
            </a:solidFill>
            <a:prstDash val="solid"/>
          </a:ln>
        </p:spPr>
      </p:sp>
      <p:sp>
        <p:nvSpPr>
          <p:cNvPr id="11" name="Text 9"/>
          <p:cNvSpPr/>
          <p:nvPr/>
        </p:nvSpPr>
        <p:spPr>
          <a:xfrm>
            <a:off x="4800600" y="2167128"/>
            <a:ext cx="2606040" cy="1554480"/>
          </a:xfrm>
          <a:prstGeom prst="rect">
            <a:avLst/>
          </a:prstGeom>
          <a:noFill/>
          <a:ln/>
        </p:spPr>
        <p:txBody>
          <a:bodyPr wrap="square" lIns="254" tIns="254" rIns="254" bIns="254" rtlCol="0" anchor="ctr">
            <a:normAutofit/>
          </a:bodyPr>
          <a:lstStyle/>
          <a:p>
            <a:pPr algn="ctr" indent="0" marL="0">
              <a:buNone/>
            </a:pPr>
            <a:r>
              <a:rPr lang="en-US" sz="2600" b="1" dirty="0">
                <a:solidFill>
                  <a:srgbClr val="102A43"/>
                </a:solidFill>
                <a:latin typeface="Arial" pitchFamily="34" charset="0"/>
                <a:ea typeface="Arial" pitchFamily="34" charset="-122"/>
                <a:cs typeface="Arial" pitchFamily="34" charset="-120"/>
              </a:rPr>
              <a:t>Sistema</a:t>
            </a:r>
            <a:endParaRPr lang="en-US" sz="2600" dirty="0"/>
          </a:p>
          <a:p>
            <a:pPr algn="ctr" indent="0" marL="0">
              <a:buNone/>
            </a:pPr>
            <a:r>
              <a:rPr lang="en-US" sz="2600" b="1" dirty="0">
                <a:solidFill>
                  <a:srgbClr val="102A43"/>
                </a:solidFill>
                <a:latin typeface="Arial" pitchFamily="34" charset="0"/>
                <a:ea typeface="Arial" pitchFamily="34" charset="-122"/>
                <a:cs typeface="Arial" pitchFamily="34" charset="-120"/>
              </a:rPr>
              <a:t>Bruxheal</a:t>
            </a:r>
            <a:endParaRPr lang="en-US" sz="2600" dirty="0"/>
          </a:p>
        </p:txBody>
      </p:sp>
      <p:sp>
        <p:nvSpPr>
          <p:cNvPr id="12" name="Shape 10"/>
          <p:cNvSpPr/>
          <p:nvPr/>
        </p:nvSpPr>
        <p:spPr>
          <a:xfrm>
            <a:off x="822960" y="3154680"/>
            <a:ext cx="3017520" cy="1600200"/>
          </a:xfrm>
          <a:prstGeom prst="roundRect">
            <a:avLst>
              <a:gd name="adj" fmla="val 4571"/>
            </a:avLst>
          </a:prstGeom>
          <a:solidFill>
            <a:srgbClr val="FFFFFF"/>
          </a:solidFill>
          <a:ln w="19050">
            <a:solidFill>
              <a:srgbClr val="2CA58D"/>
            </a:solidFill>
            <a:prstDash val="solid"/>
          </a:ln>
        </p:spPr>
      </p:sp>
      <p:sp>
        <p:nvSpPr>
          <p:cNvPr id="13" name="Text 11"/>
          <p:cNvSpPr/>
          <p:nvPr/>
        </p:nvSpPr>
        <p:spPr>
          <a:xfrm>
            <a:off x="914400" y="3264408"/>
            <a:ext cx="2834640" cy="1417320"/>
          </a:xfrm>
          <a:prstGeom prst="rect">
            <a:avLst/>
          </a:prstGeom>
          <a:noFill/>
          <a:ln/>
        </p:spPr>
        <p:txBody>
          <a:bodyPr wrap="square" lIns="254" tIns="254" rIns="254" bIns="254" rtlCol="0" anchor="ctr">
            <a:normAutofit/>
          </a:bodyPr>
          <a:lstStyle/>
          <a:p>
            <a:pPr algn="ctr" indent="0" marL="0">
              <a:buNone/>
            </a:pPr>
            <a:r>
              <a:rPr lang="en-US" sz="2400" b="1" dirty="0">
                <a:solidFill>
                  <a:srgbClr val="102A43"/>
                </a:solidFill>
                <a:latin typeface="Arial" pitchFamily="34" charset="0"/>
                <a:ea typeface="Arial" pitchFamily="34" charset="-122"/>
                <a:cs typeface="Arial" pitchFamily="34" charset="-120"/>
              </a:rPr>
              <a:t>Médico</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Gestiona pacientes, citas y pautas</a:t>
            </a:r>
            <a:endParaRPr lang="en-US" sz="2400" dirty="0"/>
          </a:p>
        </p:txBody>
      </p:sp>
      <p:sp>
        <p:nvSpPr>
          <p:cNvPr id="14" name="Shape 12"/>
          <p:cNvSpPr/>
          <p:nvPr/>
        </p:nvSpPr>
        <p:spPr>
          <a:xfrm>
            <a:off x="8321040" y="3154680"/>
            <a:ext cx="3017520" cy="1600200"/>
          </a:xfrm>
          <a:prstGeom prst="roundRect">
            <a:avLst>
              <a:gd name="adj" fmla="val 4571"/>
            </a:avLst>
          </a:prstGeom>
          <a:solidFill>
            <a:srgbClr val="FFFFFF"/>
          </a:solidFill>
          <a:ln w="19050">
            <a:solidFill>
              <a:srgbClr val="F2A900"/>
            </a:solidFill>
            <a:prstDash val="solid"/>
          </a:ln>
        </p:spPr>
      </p:sp>
      <p:sp>
        <p:nvSpPr>
          <p:cNvPr id="15" name="Text 13"/>
          <p:cNvSpPr/>
          <p:nvPr/>
        </p:nvSpPr>
        <p:spPr>
          <a:xfrm>
            <a:off x="8412480" y="3264408"/>
            <a:ext cx="2834640" cy="1417320"/>
          </a:xfrm>
          <a:prstGeom prst="rect">
            <a:avLst/>
          </a:prstGeom>
          <a:noFill/>
          <a:ln/>
        </p:spPr>
        <p:txBody>
          <a:bodyPr wrap="square" lIns="254" tIns="254" rIns="254" bIns="254" rtlCol="0" anchor="ctr">
            <a:normAutofit/>
          </a:bodyPr>
          <a:lstStyle/>
          <a:p>
            <a:pPr algn="ctr" indent="0" marL="0">
              <a:buNone/>
            </a:pPr>
            <a:r>
              <a:rPr lang="en-US" sz="2400" b="1" dirty="0">
                <a:solidFill>
                  <a:srgbClr val="102A43"/>
                </a:solidFill>
                <a:latin typeface="Arial" pitchFamily="34" charset="0"/>
                <a:ea typeface="Arial" pitchFamily="34" charset="-122"/>
                <a:cs typeface="Arial" pitchFamily="34" charset="-120"/>
              </a:rPr>
              <a:t>Paciente</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Consulta citas, perfil y asignaciones</a:t>
            </a:r>
            <a:endParaRPr lang="en-US" sz="2400" dirty="0"/>
          </a:p>
        </p:txBody>
      </p:sp>
      <p:sp>
        <p:nvSpPr>
          <p:cNvPr id="16" name="Shape 14"/>
          <p:cNvSpPr/>
          <p:nvPr/>
        </p:nvSpPr>
        <p:spPr>
          <a:xfrm>
            <a:off x="1005840" y="5504688"/>
            <a:ext cx="128016" cy="128016"/>
          </a:xfrm>
          <a:prstGeom prst="ellipse">
            <a:avLst/>
          </a:prstGeom>
          <a:solidFill>
            <a:srgbClr val="00A6B4"/>
          </a:solidFill>
          <a:ln w="12700">
            <a:solidFill>
              <a:srgbClr val="00A6B4">
                <a:alpha val="0"/>
              </a:srgbClr>
            </a:solidFill>
            <a:prstDash val="solid"/>
          </a:ln>
        </p:spPr>
      </p:sp>
      <p:sp>
        <p:nvSpPr>
          <p:cNvPr id="17" name="Text 15"/>
          <p:cNvSpPr/>
          <p:nvPr/>
        </p:nvSpPr>
        <p:spPr>
          <a:xfrm>
            <a:off x="1261872" y="5394960"/>
            <a:ext cx="9893808" cy="3657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La separación de roles condiciona la navegación y los permisos visibles.</a:t>
            </a:r>
            <a:endParaRPr lang="en-US" sz="2400" dirty="0"/>
          </a:p>
        </p:txBody>
      </p:sp>
      <p:sp>
        <p:nvSpPr>
          <p:cNvPr id="18" name="Shape 16"/>
          <p:cNvSpPr/>
          <p:nvPr/>
        </p:nvSpPr>
        <p:spPr>
          <a:xfrm>
            <a:off x="1005840" y="5916168"/>
            <a:ext cx="128016" cy="128016"/>
          </a:xfrm>
          <a:prstGeom prst="ellipse">
            <a:avLst/>
          </a:prstGeom>
          <a:solidFill>
            <a:srgbClr val="00A6B4"/>
          </a:solidFill>
          <a:ln w="12700">
            <a:solidFill>
              <a:srgbClr val="00A6B4">
                <a:alpha val="0"/>
              </a:srgbClr>
            </a:solidFill>
            <a:prstDash val="solid"/>
          </a:ln>
        </p:spPr>
      </p:sp>
      <p:sp>
        <p:nvSpPr>
          <p:cNvPr id="19" name="Text 17"/>
          <p:cNvSpPr/>
          <p:nvPr/>
        </p:nvSpPr>
        <p:spPr>
          <a:xfrm>
            <a:off x="1261872" y="5806440"/>
            <a:ext cx="9893808" cy="3657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El sistema valida datos y mantiene relaciones entre entidades.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6. Requisitos del sistema</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Funcionales y no funcionales</a:t>
            </a:r>
            <a:endParaRPr lang="en-US" sz="2400" dirty="0"/>
          </a:p>
        </p:txBody>
      </p:sp>
      <p:sp>
        <p:nvSpPr>
          <p:cNvPr id="8" name="Shape 6"/>
          <p:cNvSpPr/>
          <p:nvPr/>
        </p:nvSpPr>
        <p:spPr>
          <a:xfrm>
            <a:off x="822960" y="1417320"/>
            <a:ext cx="5166360" cy="4023360"/>
          </a:xfrm>
          <a:prstGeom prst="roundRect">
            <a:avLst>
              <a:gd name="adj" fmla="val 1818"/>
            </a:avLst>
          </a:prstGeom>
          <a:solidFill>
            <a:srgbClr val="FFFFFF"/>
          </a:solidFill>
          <a:ln w="19050">
            <a:solidFill>
              <a:srgbClr val="00A6B4"/>
            </a:solidFill>
            <a:prstDash val="solid"/>
          </a:ln>
        </p:spPr>
      </p:sp>
      <p:sp>
        <p:nvSpPr>
          <p:cNvPr id="9" name="Shape 7"/>
          <p:cNvSpPr/>
          <p:nvPr/>
        </p:nvSpPr>
        <p:spPr>
          <a:xfrm>
            <a:off x="822960" y="1417320"/>
            <a:ext cx="82296" cy="4023360"/>
          </a:xfrm>
          <a:prstGeom prst="rect">
            <a:avLst/>
          </a:prstGeom>
          <a:solidFill>
            <a:srgbClr val="00A6B4"/>
          </a:solidFill>
          <a:ln w="12700">
            <a:solidFill>
              <a:srgbClr val="00A6B4">
                <a:alpha val="0"/>
              </a:srgbClr>
            </a:solidFill>
            <a:prstDash val="solid"/>
          </a:ln>
        </p:spPr>
      </p:sp>
      <p:sp>
        <p:nvSpPr>
          <p:cNvPr id="10" name="Text 8"/>
          <p:cNvSpPr/>
          <p:nvPr/>
        </p:nvSpPr>
        <p:spPr>
          <a:xfrm>
            <a:off x="1051560" y="1554480"/>
            <a:ext cx="480060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Requisitos funcionales</a:t>
            </a:r>
            <a:endParaRPr lang="en-US" sz="2400" dirty="0"/>
          </a:p>
        </p:txBody>
      </p:sp>
      <p:sp>
        <p:nvSpPr>
          <p:cNvPr id="11" name="Text 9"/>
          <p:cNvSpPr/>
          <p:nvPr/>
        </p:nvSpPr>
        <p:spPr>
          <a:xfrm>
            <a:off x="1051560" y="1984248"/>
            <a:ext cx="4800600" cy="336499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Registro y login</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Gestión de pacientes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Creación y cancelación de citas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Asignación de ejercicios y medicación</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Portal del paciente</a:t>
            </a:r>
            <a:endParaRPr lang="en-US" sz="2400" dirty="0"/>
          </a:p>
        </p:txBody>
      </p:sp>
      <p:sp>
        <p:nvSpPr>
          <p:cNvPr id="12" name="Shape 10"/>
          <p:cNvSpPr/>
          <p:nvPr/>
        </p:nvSpPr>
        <p:spPr>
          <a:xfrm>
            <a:off x="6263640" y="1417320"/>
            <a:ext cx="5166360" cy="4023360"/>
          </a:xfrm>
          <a:prstGeom prst="roundRect">
            <a:avLst>
              <a:gd name="adj" fmla="val 1818"/>
            </a:avLst>
          </a:prstGeom>
          <a:solidFill>
            <a:srgbClr val="FFFFFF"/>
          </a:solidFill>
          <a:ln w="19050">
            <a:solidFill>
              <a:srgbClr val="2CA58D"/>
            </a:solidFill>
            <a:prstDash val="solid"/>
          </a:ln>
        </p:spPr>
      </p:sp>
      <p:sp>
        <p:nvSpPr>
          <p:cNvPr id="13" name="Shape 11"/>
          <p:cNvSpPr/>
          <p:nvPr/>
        </p:nvSpPr>
        <p:spPr>
          <a:xfrm>
            <a:off x="6263640" y="1417320"/>
            <a:ext cx="82296" cy="4023360"/>
          </a:xfrm>
          <a:prstGeom prst="rect">
            <a:avLst/>
          </a:prstGeom>
          <a:solidFill>
            <a:srgbClr val="2CA58D"/>
          </a:solidFill>
          <a:ln w="12700">
            <a:solidFill>
              <a:srgbClr val="2CA58D">
                <a:alpha val="0"/>
              </a:srgbClr>
            </a:solidFill>
            <a:prstDash val="solid"/>
          </a:ln>
        </p:spPr>
      </p:sp>
      <p:sp>
        <p:nvSpPr>
          <p:cNvPr id="14" name="Text 12"/>
          <p:cNvSpPr/>
          <p:nvPr/>
        </p:nvSpPr>
        <p:spPr>
          <a:xfrm>
            <a:off x="6492240" y="1554480"/>
            <a:ext cx="480060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Requisitos no funcionales</a:t>
            </a:r>
            <a:endParaRPr lang="en-US" sz="2400" dirty="0"/>
          </a:p>
        </p:txBody>
      </p:sp>
      <p:sp>
        <p:nvSpPr>
          <p:cNvPr id="15" name="Text 13"/>
          <p:cNvSpPr/>
          <p:nvPr/>
        </p:nvSpPr>
        <p:spPr>
          <a:xfrm>
            <a:off x="6492240" y="1984248"/>
            <a:ext cx="4800600" cy="336499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Usabilidad</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Mantenibilidad</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Integridad relacional</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Portabilidad local</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Trazabilidad con pruebas</a:t>
            </a:r>
            <a:endParaRPr lang="en-US" sz="2400" dirty="0"/>
          </a:p>
        </p:txBody>
      </p:sp>
      <p:sp>
        <p:nvSpPr>
          <p:cNvPr id="16" name="Text 14"/>
          <p:cNvSpPr/>
          <p:nvPr/>
        </p:nvSpPr>
        <p:spPr>
          <a:xfrm>
            <a:off x="914400" y="5806440"/>
            <a:ext cx="10378440" cy="457200"/>
          </a:xfrm>
          <a:prstGeom prst="rect">
            <a:avLst/>
          </a:prstGeom>
          <a:noFill/>
          <a:ln/>
        </p:spPr>
        <p:txBody>
          <a:bodyPr wrap="square" lIns="0" tIns="0" rIns="0" bIns="0" rtlCol="0" anchor="ctr"/>
          <a:lstStyle/>
          <a:p>
            <a:pPr algn="ctr" indent="0" marL="0">
              <a:buNone/>
            </a:pPr>
            <a:r>
              <a:rPr lang="en-US" sz="2400" dirty="0">
                <a:solidFill>
                  <a:srgbClr val="102A43"/>
                </a:solidFill>
                <a:latin typeface="Arial" pitchFamily="34" charset="0"/>
                <a:ea typeface="Arial" pitchFamily="34" charset="-122"/>
                <a:cs typeface="Arial" pitchFamily="34" charset="-120"/>
              </a:rPr>
              <a:t>Los requisitos se vinculan con casos de uso y pruebas funcionales de caja negra.</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6. Modelo de datos</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Base de datos relacional con más de tres tablas</a:t>
            </a:r>
            <a:endParaRPr lang="en-US" sz="2400" dirty="0"/>
          </a:p>
        </p:txBody>
      </p:sp>
      <p:sp>
        <p:nvSpPr>
          <p:cNvPr id="8" name="Shape 6"/>
          <p:cNvSpPr/>
          <p:nvPr/>
        </p:nvSpPr>
        <p:spPr>
          <a:xfrm>
            <a:off x="685800" y="1325880"/>
            <a:ext cx="7909560" cy="4526280"/>
          </a:xfrm>
          <a:prstGeom prst="roundRect">
            <a:avLst>
              <a:gd name="adj" fmla="val 1616"/>
            </a:avLst>
          </a:prstGeom>
          <a:solidFill>
            <a:srgbClr val="FFFFFF"/>
          </a:solidFill>
          <a:ln w="15240">
            <a:solidFill>
              <a:srgbClr val="D6E4E8"/>
            </a:solidFill>
            <a:prstDash val="solid"/>
          </a:ln>
        </p:spPr>
      </p:sp>
      <p:pic>
        <p:nvPicPr>
          <p:cNvPr id="9" name="Image 0" descr="/mnt/data/docx_media/word/media/image5.png">    </p:cNvPr>
          <p:cNvPicPr>
            <a:picLocks noChangeAspect="1"/>
          </p:cNvPicPr>
          <p:nvPr/>
        </p:nvPicPr>
        <p:blipFill>
          <a:blip r:embed="rId1"/>
          <a:stretch>
            <a:fillRect/>
          </a:stretch>
        </p:blipFill>
        <p:spPr>
          <a:xfrm>
            <a:off x="1131699" y="1554480"/>
            <a:ext cx="7017763" cy="4069080"/>
          </a:xfrm>
          <a:prstGeom prst="rect">
            <a:avLst/>
          </a:prstGeom>
        </p:spPr>
      </p:pic>
      <p:sp>
        <p:nvSpPr>
          <p:cNvPr id="10" name="Shape 7"/>
          <p:cNvSpPr/>
          <p:nvPr/>
        </p:nvSpPr>
        <p:spPr>
          <a:xfrm>
            <a:off x="8915400" y="1618488"/>
            <a:ext cx="128016" cy="128016"/>
          </a:xfrm>
          <a:prstGeom prst="ellipse">
            <a:avLst/>
          </a:prstGeom>
          <a:solidFill>
            <a:srgbClr val="F2A900"/>
          </a:solidFill>
          <a:ln w="12700">
            <a:solidFill>
              <a:srgbClr val="F2A900">
                <a:alpha val="0"/>
              </a:srgbClr>
            </a:solidFill>
            <a:prstDash val="solid"/>
          </a:ln>
        </p:spPr>
      </p:sp>
      <p:sp>
        <p:nvSpPr>
          <p:cNvPr id="11" name="Text 8"/>
          <p:cNvSpPr/>
          <p:nvPr/>
        </p:nvSpPr>
        <p:spPr>
          <a:xfrm>
            <a:off x="9171432" y="1508760"/>
            <a:ext cx="2350008" cy="9372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Pacientes y médicos como entidades principales.</a:t>
            </a:r>
            <a:endParaRPr lang="en-US" sz="2400" dirty="0"/>
          </a:p>
        </p:txBody>
      </p:sp>
      <p:sp>
        <p:nvSpPr>
          <p:cNvPr id="12" name="Shape 9"/>
          <p:cNvSpPr/>
          <p:nvPr/>
        </p:nvSpPr>
        <p:spPr>
          <a:xfrm>
            <a:off x="8915400" y="2601468"/>
            <a:ext cx="128016" cy="128016"/>
          </a:xfrm>
          <a:prstGeom prst="ellipse">
            <a:avLst/>
          </a:prstGeom>
          <a:solidFill>
            <a:srgbClr val="F2A900"/>
          </a:solidFill>
          <a:ln w="12700">
            <a:solidFill>
              <a:srgbClr val="F2A900">
                <a:alpha val="0"/>
              </a:srgbClr>
            </a:solidFill>
            <a:prstDash val="solid"/>
          </a:ln>
        </p:spPr>
      </p:sp>
      <p:sp>
        <p:nvSpPr>
          <p:cNvPr id="13" name="Text 10"/>
          <p:cNvSpPr/>
          <p:nvPr/>
        </p:nvSpPr>
        <p:spPr>
          <a:xfrm>
            <a:off x="9171432" y="2491740"/>
            <a:ext cx="2350008" cy="9372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Citas relacionadas por claves foráneas.</a:t>
            </a:r>
            <a:endParaRPr lang="en-US" sz="2400" dirty="0"/>
          </a:p>
        </p:txBody>
      </p:sp>
      <p:sp>
        <p:nvSpPr>
          <p:cNvPr id="14" name="Shape 11"/>
          <p:cNvSpPr/>
          <p:nvPr/>
        </p:nvSpPr>
        <p:spPr>
          <a:xfrm>
            <a:off x="8915400" y="3584448"/>
            <a:ext cx="128016" cy="128016"/>
          </a:xfrm>
          <a:prstGeom prst="ellipse">
            <a:avLst/>
          </a:prstGeom>
          <a:solidFill>
            <a:srgbClr val="F2A900"/>
          </a:solidFill>
          <a:ln w="12700">
            <a:solidFill>
              <a:srgbClr val="F2A900">
                <a:alpha val="0"/>
              </a:srgbClr>
            </a:solidFill>
            <a:prstDash val="solid"/>
          </a:ln>
        </p:spPr>
      </p:sp>
      <p:sp>
        <p:nvSpPr>
          <p:cNvPr id="15" name="Text 12"/>
          <p:cNvSpPr/>
          <p:nvPr/>
        </p:nvSpPr>
        <p:spPr>
          <a:xfrm>
            <a:off x="9171432" y="3474720"/>
            <a:ext cx="2350008" cy="9372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Catálogos para ejercicios y medicamentos.</a:t>
            </a:r>
            <a:endParaRPr lang="en-US" sz="2400" dirty="0"/>
          </a:p>
        </p:txBody>
      </p:sp>
      <p:sp>
        <p:nvSpPr>
          <p:cNvPr id="16" name="Shape 13"/>
          <p:cNvSpPr/>
          <p:nvPr/>
        </p:nvSpPr>
        <p:spPr>
          <a:xfrm>
            <a:off x="8915400" y="4567428"/>
            <a:ext cx="128016" cy="128016"/>
          </a:xfrm>
          <a:prstGeom prst="ellipse">
            <a:avLst/>
          </a:prstGeom>
          <a:solidFill>
            <a:srgbClr val="F2A900"/>
          </a:solidFill>
          <a:ln w="12700">
            <a:solidFill>
              <a:srgbClr val="F2A900">
                <a:alpha val="0"/>
              </a:srgbClr>
            </a:solidFill>
            <a:prstDash val="solid"/>
          </a:ln>
        </p:spPr>
      </p:sp>
      <p:sp>
        <p:nvSpPr>
          <p:cNvPr id="17" name="Text 14"/>
          <p:cNvSpPr/>
          <p:nvPr/>
        </p:nvSpPr>
        <p:spPr>
          <a:xfrm>
            <a:off x="9171432" y="4457700"/>
            <a:ext cx="2350008" cy="9372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Asignaciones vinculadas al paciente.</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6. Casos de uso principales</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Acciones verificables en la aplicación</a:t>
            </a:r>
            <a:endParaRPr lang="en-US" sz="2400" dirty="0"/>
          </a:p>
        </p:txBody>
      </p:sp>
      <p:sp>
        <p:nvSpPr>
          <p:cNvPr id="8" name="Shape 6"/>
          <p:cNvSpPr/>
          <p:nvPr/>
        </p:nvSpPr>
        <p:spPr>
          <a:xfrm>
            <a:off x="777240" y="1417320"/>
            <a:ext cx="3566160" cy="4297680"/>
          </a:xfrm>
          <a:prstGeom prst="roundRect">
            <a:avLst>
              <a:gd name="adj" fmla="val 2051"/>
            </a:avLst>
          </a:prstGeom>
          <a:solidFill>
            <a:srgbClr val="FFFFFF"/>
          </a:solidFill>
          <a:ln w="19050">
            <a:solidFill>
              <a:srgbClr val="2CA58D"/>
            </a:solidFill>
            <a:prstDash val="solid"/>
          </a:ln>
        </p:spPr>
      </p:sp>
      <p:sp>
        <p:nvSpPr>
          <p:cNvPr id="9" name="Shape 7"/>
          <p:cNvSpPr/>
          <p:nvPr/>
        </p:nvSpPr>
        <p:spPr>
          <a:xfrm>
            <a:off x="777240" y="1417320"/>
            <a:ext cx="82296" cy="4297680"/>
          </a:xfrm>
          <a:prstGeom prst="rect">
            <a:avLst/>
          </a:prstGeom>
          <a:solidFill>
            <a:srgbClr val="2CA58D"/>
          </a:solidFill>
          <a:ln w="12700">
            <a:solidFill>
              <a:srgbClr val="2CA58D">
                <a:alpha val="0"/>
              </a:srgbClr>
            </a:solidFill>
            <a:prstDash val="solid"/>
          </a:ln>
        </p:spPr>
      </p:sp>
      <p:sp>
        <p:nvSpPr>
          <p:cNvPr id="10" name="Text 8"/>
          <p:cNvSpPr/>
          <p:nvPr/>
        </p:nvSpPr>
        <p:spPr>
          <a:xfrm>
            <a:off x="1005840" y="1554480"/>
            <a:ext cx="320040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Médico</a:t>
            </a:r>
            <a:endParaRPr lang="en-US" sz="2400" dirty="0"/>
          </a:p>
        </p:txBody>
      </p:sp>
      <p:sp>
        <p:nvSpPr>
          <p:cNvPr id="11" name="Text 9"/>
          <p:cNvSpPr/>
          <p:nvPr/>
        </p:nvSpPr>
        <p:spPr>
          <a:xfrm>
            <a:off x="1005840" y="1984248"/>
            <a:ext cx="3200400" cy="363931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Registrarse</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Iniciar sesión</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Consultar pacientes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Crear y cancelar citas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Asignar pautas</a:t>
            </a:r>
            <a:endParaRPr lang="en-US" sz="2400" dirty="0"/>
          </a:p>
        </p:txBody>
      </p:sp>
      <p:sp>
        <p:nvSpPr>
          <p:cNvPr id="12" name="Shape 10"/>
          <p:cNvSpPr/>
          <p:nvPr/>
        </p:nvSpPr>
        <p:spPr>
          <a:xfrm>
            <a:off x="4526280" y="1417320"/>
            <a:ext cx="3566160" cy="4297680"/>
          </a:xfrm>
          <a:prstGeom prst="roundRect">
            <a:avLst>
              <a:gd name="adj" fmla="val 2051"/>
            </a:avLst>
          </a:prstGeom>
          <a:solidFill>
            <a:srgbClr val="FFFFFF"/>
          </a:solidFill>
          <a:ln w="19050">
            <a:solidFill>
              <a:srgbClr val="00A6B4"/>
            </a:solidFill>
            <a:prstDash val="solid"/>
          </a:ln>
        </p:spPr>
      </p:sp>
      <p:sp>
        <p:nvSpPr>
          <p:cNvPr id="13" name="Shape 11"/>
          <p:cNvSpPr/>
          <p:nvPr/>
        </p:nvSpPr>
        <p:spPr>
          <a:xfrm>
            <a:off x="4526280" y="1417320"/>
            <a:ext cx="82296" cy="4297680"/>
          </a:xfrm>
          <a:prstGeom prst="rect">
            <a:avLst/>
          </a:prstGeom>
          <a:solidFill>
            <a:srgbClr val="00A6B4"/>
          </a:solidFill>
          <a:ln w="12700">
            <a:solidFill>
              <a:srgbClr val="00A6B4">
                <a:alpha val="0"/>
              </a:srgbClr>
            </a:solidFill>
            <a:prstDash val="solid"/>
          </a:ln>
        </p:spPr>
      </p:sp>
      <p:sp>
        <p:nvSpPr>
          <p:cNvPr id="14" name="Text 12"/>
          <p:cNvSpPr/>
          <p:nvPr/>
        </p:nvSpPr>
        <p:spPr>
          <a:xfrm>
            <a:off x="4754880" y="1554480"/>
            <a:ext cx="320040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Paciente</a:t>
            </a:r>
            <a:endParaRPr lang="en-US" sz="2400" dirty="0"/>
          </a:p>
        </p:txBody>
      </p:sp>
      <p:sp>
        <p:nvSpPr>
          <p:cNvPr id="15" name="Text 13"/>
          <p:cNvSpPr/>
          <p:nvPr/>
        </p:nvSpPr>
        <p:spPr>
          <a:xfrm>
            <a:off x="4754880" y="1984248"/>
            <a:ext cx="3200400" cy="363931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Registrarse</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Iniciar sesión</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Editar perfil</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Consultar citas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Ver pautas asignadas</a:t>
            </a:r>
            <a:endParaRPr lang="en-US" sz="2400" dirty="0"/>
          </a:p>
        </p:txBody>
      </p:sp>
      <p:sp>
        <p:nvSpPr>
          <p:cNvPr id="16" name="Shape 14"/>
          <p:cNvSpPr/>
          <p:nvPr/>
        </p:nvSpPr>
        <p:spPr>
          <a:xfrm>
            <a:off x="8275320" y="1417320"/>
            <a:ext cx="3108960" cy="4297680"/>
          </a:xfrm>
          <a:prstGeom prst="roundRect">
            <a:avLst>
              <a:gd name="adj" fmla="val 2353"/>
            </a:avLst>
          </a:prstGeom>
          <a:solidFill>
            <a:srgbClr val="FFFFFF"/>
          </a:solidFill>
          <a:ln w="19050">
            <a:solidFill>
              <a:srgbClr val="F2A900"/>
            </a:solidFill>
            <a:prstDash val="solid"/>
          </a:ln>
        </p:spPr>
      </p:sp>
      <p:sp>
        <p:nvSpPr>
          <p:cNvPr id="17" name="Shape 15"/>
          <p:cNvSpPr/>
          <p:nvPr/>
        </p:nvSpPr>
        <p:spPr>
          <a:xfrm>
            <a:off x="8275320" y="1417320"/>
            <a:ext cx="82296" cy="4297680"/>
          </a:xfrm>
          <a:prstGeom prst="rect">
            <a:avLst/>
          </a:prstGeom>
          <a:solidFill>
            <a:srgbClr val="F2A900"/>
          </a:solidFill>
          <a:ln w="12700">
            <a:solidFill>
              <a:srgbClr val="F2A900">
                <a:alpha val="0"/>
              </a:srgbClr>
            </a:solidFill>
            <a:prstDash val="solid"/>
          </a:ln>
        </p:spPr>
      </p:sp>
      <p:sp>
        <p:nvSpPr>
          <p:cNvPr id="18" name="Text 16"/>
          <p:cNvSpPr/>
          <p:nvPr/>
        </p:nvSpPr>
        <p:spPr>
          <a:xfrm>
            <a:off x="8503920" y="1554480"/>
            <a:ext cx="274320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Sistema</a:t>
            </a:r>
            <a:endParaRPr lang="en-US" sz="2400" dirty="0"/>
          </a:p>
        </p:txBody>
      </p:sp>
      <p:sp>
        <p:nvSpPr>
          <p:cNvPr id="19" name="Text 17"/>
          <p:cNvSpPr/>
          <p:nvPr/>
        </p:nvSpPr>
        <p:spPr>
          <a:xfrm>
            <a:off x="8503920" y="1984248"/>
            <a:ext cx="2743200" cy="363931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Autenticación</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Agenda</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Perfiles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Tratamientos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Integridad de datos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7. Diseño del proyecto</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Arquitectura en tres capas</a:t>
            </a:r>
            <a:endParaRPr lang="en-US" sz="2400" dirty="0"/>
          </a:p>
        </p:txBody>
      </p:sp>
      <p:sp>
        <p:nvSpPr>
          <p:cNvPr id="8" name="Shape 6"/>
          <p:cNvSpPr/>
          <p:nvPr/>
        </p:nvSpPr>
        <p:spPr>
          <a:xfrm>
            <a:off x="685800" y="1463040"/>
            <a:ext cx="10881360" cy="2880360"/>
          </a:xfrm>
          <a:prstGeom prst="roundRect">
            <a:avLst>
              <a:gd name="adj" fmla="val 2540"/>
            </a:avLst>
          </a:prstGeom>
          <a:solidFill>
            <a:srgbClr val="FFFFFF"/>
          </a:solidFill>
          <a:ln w="15240">
            <a:solidFill>
              <a:srgbClr val="D6E4E8"/>
            </a:solidFill>
            <a:prstDash val="solid"/>
          </a:ln>
        </p:spPr>
      </p:sp>
      <p:pic>
        <p:nvPicPr>
          <p:cNvPr id="9" name="Image 0" descr="/mnt/data/docx_media/word/media/image4.png">    </p:cNvPr>
          <p:cNvPicPr>
            <a:picLocks noChangeAspect="1"/>
          </p:cNvPicPr>
          <p:nvPr/>
        </p:nvPicPr>
        <p:blipFill>
          <a:blip r:embed="rId1"/>
          <a:stretch>
            <a:fillRect/>
          </a:stretch>
        </p:blipFill>
        <p:spPr>
          <a:xfrm>
            <a:off x="3095335" y="1691640"/>
            <a:ext cx="6062290" cy="2423160"/>
          </a:xfrm>
          <a:prstGeom prst="rect">
            <a:avLst/>
          </a:prstGeom>
        </p:spPr>
      </p:pic>
      <p:sp>
        <p:nvSpPr>
          <p:cNvPr id="10" name="Shape 7"/>
          <p:cNvSpPr/>
          <p:nvPr/>
        </p:nvSpPr>
        <p:spPr>
          <a:xfrm>
            <a:off x="914400" y="5001768"/>
            <a:ext cx="128016" cy="128016"/>
          </a:xfrm>
          <a:prstGeom prst="ellipse">
            <a:avLst/>
          </a:prstGeom>
          <a:solidFill>
            <a:srgbClr val="00A6B4"/>
          </a:solidFill>
          <a:ln w="12700">
            <a:solidFill>
              <a:srgbClr val="00A6B4">
                <a:alpha val="0"/>
              </a:srgbClr>
            </a:solidFill>
            <a:prstDash val="solid"/>
          </a:ln>
        </p:spPr>
      </p:sp>
      <p:sp>
        <p:nvSpPr>
          <p:cNvPr id="11" name="Text 8"/>
          <p:cNvSpPr/>
          <p:nvPr/>
        </p:nvSpPr>
        <p:spPr>
          <a:xfrm>
            <a:off x="1170432" y="4892040"/>
            <a:ext cx="9985248" cy="3657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Frontend: formularios, paneles y navegación por rol.</a:t>
            </a:r>
            <a:endParaRPr lang="en-US" sz="2400" dirty="0"/>
          </a:p>
        </p:txBody>
      </p:sp>
      <p:sp>
        <p:nvSpPr>
          <p:cNvPr id="12" name="Shape 9"/>
          <p:cNvSpPr/>
          <p:nvPr/>
        </p:nvSpPr>
        <p:spPr>
          <a:xfrm>
            <a:off x="914400" y="5413248"/>
            <a:ext cx="128016" cy="128016"/>
          </a:xfrm>
          <a:prstGeom prst="ellipse">
            <a:avLst/>
          </a:prstGeom>
          <a:solidFill>
            <a:srgbClr val="00A6B4"/>
          </a:solidFill>
          <a:ln w="12700">
            <a:solidFill>
              <a:srgbClr val="00A6B4">
                <a:alpha val="0"/>
              </a:srgbClr>
            </a:solidFill>
            <a:prstDash val="solid"/>
          </a:ln>
        </p:spPr>
      </p:sp>
      <p:sp>
        <p:nvSpPr>
          <p:cNvPr id="13" name="Text 10"/>
          <p:cNvSpPr/>
          <p:nvPr/>
        </p:nvSpPr>
        <p:spPr>
          <a:xfrm>
            <a:off x="1170432" y="5303520"/>
            <a:ext cx="9985248" cy="3657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Backend: validación, reglas y comunicación con MySQL.</a:t>
            </a:r>
            <a:endParaRPr lang="en-US" sz="2400" dirty="0"/>
          </a:p>
        </p:txBody>
      </p:sp>
      <p:sp>
        <p:nvSpPr>
          <p:cNvPr id="14" name="Shape 11"/>
          <p:cNvSpPr/>
          <p:nvPr/>
        </p:nvSpPr>
        <p:spPr>
          <a:xfrm>
            <a:off x="914400" y="5824728"/>
            <a:ext cx="128016" cy="128016"/>
          </a:xfrm>
          <a:prstGeom prst="ellipse">
            <a:avLst/>
          </a:prstGeom>
          <a:solidFill>
            <a:srgbClr val="00A6B4"/>
          </a:solidFill>
          <a:ln w="12700">
            <a:solidFill>
              <a:srgbClr val="00A6B4">
                <a:alpha val="0"/>
              </a:srgbClr>
            </a:solidFill>
            <a:prstDash val="solid"/>
          </a:ln>
        </p:spPr>
      </p:sp>
      <p:sp>
        <p:nvSpPr>
          <p:cNvPr id="15" name="Text 12"/>
          <p:cNvSpPr/>
          <p:nvPr/>
        </p:nvSpPr>
        <p:spPr>
          <a:xfrm>
            <a:off x="1170432" y="5715000"/>
            <a:ext cx="9985248" cy="3657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Persistencia: tablas relacionales y claves foráneas.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7. Diseño backend y API</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Módulos funcionales y endpoints</a:t>
            </a:r>
            <a:endParaRPr lang="en-US" sz="2400" dirty="0"/>
          </a:p>
        </p:txBody>
      </p:sp>
      <p:pic>
        <p:nvPicPr>
          <p:cNvPr id="8" name="Image 0" descr="/mnt/data/docx_media/word/media/image6.png">    </p:cNvPr>
          <p:cNvPicPr>
            <a:picLocks noChangeAspect="1"/>
          </p:cNvPicPr>
          <p:nvPr/>
        </p:nvPicPr>
        <p:blipFill>
          <a:blip r:embed="rId1"/>
          <a:srcRect l="0" r="10903" t="0" b="0"/>
          <a:stretch/>
        </p:blipFill>
        <p:spPr>
          <a:xfrm>
            <a:off x="822960" y="1417320"/>
            <a:ext cx="2331720" cy="4526280"/>
          </a:xfrm>
          <a:prstGeom prst="rect">
            <a:avLst/>
          </a:prstGeom>
        </p:spPr>
      </p:pic>
      <p:sp>
        <p:nvSpPr>
          <p:cNvPr id="9" name="Shape 6"/>
          <p:cNvSpPr/>
          <p:nvPr/>
        </p:nvSpPr>
        <p:spPr>
          <a:xfrm>
            <a:off x="3429000" y="1417320"/>
            <a:ext cx="3154680" cy="2057400"/>
          </a:xfrm>
          <a:prstGeom prst="roundRect">
            <a:avLst>
              <a:gd name="adj" fmla="val 3556"/>
            </a:avLst>
          </a:prstGeom>
          <a:solidFill>
            <a:srgbClr val="FFFFFF"/>
          </a:solidFill>
          <a:ln w="19050">
            <a:solidFill>
              <a:srgbClr val="00A6B4"/>
            </a:solidFill>
            <a:prstDash val="solid"/>
          </a:ln>
        </p:spPr>
      </p:sp>
      <p:sp>
        <p:nvSpPr>
          <p:cNvPr id="10" name="Shape 7"/>
          <p:cNvSpPr/>
          <p:nvPr/>
        </p:nvSpPr>
        <p:spPr>
          <a:xfrm>
            <a:off x="3429000" y="1417320"/>
            <a:ext cx="82296" cy="2057400"/>
          </a:xfrm>
          <a:prstGeom prst="rect">
            <a:avLst/>
          </a:prstGeom>
          <a:solidFill>
            <a:srgbClr val="00A6B4"/>
          </a:solidFill>
          <a:ln w="12700">
            <a:solidFill>
              <a:srgbClr val="00A6B4">
                <a:alpha val="0"/>
              </a:srgbClr>
            </a:solidFill>
            <a:prstDash val="solid"/>
          </a:ln>
        </p:spPr>
      </p:sp>
      <p:sp>
        <p:nvSpPr>
          <p:cNvPr id="11" name="Text 8"/>
          <p:cNvSpPr/>
          <p:nvPr/>
        </p:nvSpPr>
        <p:spPr>
          <a:xfrm>
            <a:off x="3657600" y="1554480"/>
            <a:ext cx="27889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Organización</a:t>
            </a:r>
            <a:endParaRPr lang="en-US" sz="2400" dirty="0"/>
          </a:p>
        </p:txBody>
      </p:sp>
      <p:sp>
        <p:nvSpPr>
          <p:cNvPr id="12" name="Text 9"/>
          <p:cNvSpPr/>
          <p:nvPr/>
        </p:nvSpPr>
        <p:spPr>
          <a:xfrm>
            <a:off x="3657600" y="1984248"/>
            <a:ext cx="2788920" cy="139903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app/api</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app/modelos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app/esquemas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app/core</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service</a:t>
            </a:r>
            <a:endParaRPr lang="en-US" sz="2400" dirty="0"/>
          </a:p>
        </p:txBody>
      </p:sp>
      <p:sp>
        <p:nvSpPr>
          <p:cNvPr id="13" name="Shape 10"/>
          <p:cNvSpPr/>
          <p:nvPr/>
        </p:nvSpPr>
        <p:spPr>
          <a:xfrm>
            <a:off x="3429000" y="3840480"/>
            <a:ext cx="3154680" cy="2103120"/>
          </a:xfrm>
          <a:prstGeom prst="roundRect">
            <a:avLst>
              <a:gd name="adj" fmla="val 3478"/>
            </a:avLst>
          </a:prstGeom>
          <a:solidFill>
            <a:srgbClr val="FFFFFF"/>
          </a:solidFill>
          <a:ln w="19050">
            <a:solidFill>
              <a:srgbClr val="2CA58D"/>
            </a:solidFill>
            <a:prstDash val="solid"/>
          </a:ln>
        </p:spPr>
      </p:sp>
      <p:sp>
        <p:nvSpPr>
          <p:cNvPr id="14" name="Shape 11"/>
          <p:cNvSpPr/>
          <p:nvPr/>
        </p:nvSpPr>
        <p:spPr>
          <a:xfrm>
            <a:off x="3429000" y="3840480"/>
            <a:ext cx="82296" cy="2103120"/>
          </a:xfrm>
          <a:prstGeom prst="rect">
            <a:avLst/>
          </a:prstGeom>
          <a:solidFill>
            <a:srgbClr val="2CA58D"/>
          </a:solidFill>
          <a:ln w="12700">
            <a:solidFill>
              <a:srgbClr val="2CA58D">
                <a:alpha val="0"/>
              </a:srgbClr>
            </a:solidFill>
            <a:prstDash val="solid"/>
          </a:ln>
        </p:spPr>
      </p:sp>
      <p:sp>
        <p:nvSpPr>
          <p:cNvPr id="15" name="Text 12"/>
          <p:cNvSpPr/>
          <p:nvPr/>
        </p:nvSpPr>
        <p:spPr>
          <a:xfrm>
            <a:off x="3657600" y="3977640"/>
            <a:ext cx="27889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Endpoints ejemplo</a:t>
            </a:r>
            <a:endParaRPr lang="en-US" sz="2400" dirty="0"/>
          </a:p>
        </p:txBody>
      </p:sp>
      <p:sp>
        <p:nvSpPr>
          <p:cNvPr id="16" name="Text 13"/>
          <p:cNvSpPr/>
          <p:nvPr/>
        </p:nvSpPr>
        <p:spPr>
          <a:xfrm>
            <a:off x="3657600" y="4407408"/>
            <a:ext cx="2788920" cy="144475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GET /pacientes</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GET /pacientes/{id}</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PUT /pacientes/{id}</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POST /registro</a:t>
            </a:r>
            <a:endParaRPr lang="en-US" sz="2400" dirty="0"/>
          </a:p>
        </p:txBody>
      </p:sp>
      <p:sp>
        <p:nvSpPr>
          <p:cNvPr id="17" name="Shape 14"/>
          <p:cNvSpPr/>
          <p:nvPr/>
        </p:nvSpPr>
        <p:spPr>
          <a:xfrm>
            <a:off x="6903720" y="1417320"/>
            <a:ext cx="4389120" cy="4526280"/>
          </a:xfrm>
          <a:prstGeom prst="roundRect">
            <a:avLst>
              <a:gd name="adj" fmla="val 1667"/>
            </a:avLst>
          </a:prstGeom>
          <a:solidFill>
            <a:srgbClr val="0B1F33"/>
          </a:solidFill>
          <a:ln w="12700">
            <a:solidFill>
              <a:srgbClr val="0B1F33"/>
            </a:solidFill>
            <a:prstDash val="solid"/>
          </a:ln>
        </p:spPr>
      </p:sp>
      <p:pic>
        <p:nvPicPr>
          <p:cNvPr id="18" name="Image 1" descr="/mnt/data/docx_media/word/media/image7.png">    </p:cNvPr>
          <p:cNvPicPr>
            <a:picLocks noChangeAspect="1"/>
          </p:cNvPicPr>
          <p:nvPr/>
        </p:nvPicPr>
        <p:blipFill>
          <a:blip r:embed="rId2"/>
          <a:stretch>
            <a:fillRect/>
          </a:stretch>
        </p:blipFill>
        <p:spPr>
          <a:xfrm>
            <a:off x="7086600" y="2415003"/>
            <a:ext cx="4023360" cy="253091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7. Diseño frontend</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Interfaz React organizada por rol</a:t>
            </a:r>
            <a:endParaRPr lang="en-US" sz="2400" dirty="0"/>
          </a:p>
        </p:txBody>
      </p:sp>
      <p:sp>
        <p:nvSpPr>
          <p:cNvPr id="8" name="Shape 6"/>
          <p:cNvSpPr/>
          <p:nvPr/>
        </p:nvSpPr>
        <p:spPr>
          <a:xfrm>
            <a:off x="685800" y="1371600"/>
            <a:ext cx="7406640" cy="4160520"/>
          </a:xfrm>
          <a:prstGeom prst="roundRect">
            <a:avLst>
              <a:gd name="adj" fmla="val 1758"/>
            </a:avLst>
          </a:prstGeom>
          <a:solidFill>
            <a:srgbClr val="FFFFFF"/>
          </a:solidFill>
          <a:ln w="15240">
            <a:solidFill>
              <a:srgbClr val="D6E4E8"/>
            </a:solidFill>
            <a:prstDash val="solid"/>
          </a:ln>
        </p:spPr>
      </p:sp>
      <p:pic>
        <p:nvPicPr>
          <p:cNvPr id="9" name="Image 0" descr="/mnt/data/docx_media/word/media/image10.png">    </p:cNvPr>
          <p:cNvPicPr>
            <a:picLocks noChangeAspect="1"/>
          </p:cNvPicPr>
          <p:nvPr/>
        </p:nvPicPr>
        <p:blipFill>
          <a:blip r:embed="rId1"/>
          <a:stretch>
            <a:fillRect/>
          </a:stretch>
        </p:blipFill>
        <p:spPr>
          <a:xfrm>
            <a:off x="914400" y="1969313"/>
            <a:ext cx="6949440" cy="2965094"/>
          </a:xfrm>
          <a:prstGeom prst="rect">
            <a:avLst/>
          </a:prstGeom>
        </p:spPr>
      </p:pic>
      <p:pic>
        <p:nvPicPr>
          <p:cNvPr id="10" name="Image 1" descr="/mnt/data/docx_media/word/media/image11.png">    </p:cNvPr>
          <p:cNvPicPr>
            <a:picLocks noChangeAspect="1"/>
          </p:cNvPicPr>
          <p:nvPr/>
        </p:nvPicPr>
        <p:blipFill>
          <a:blip r:embed="rId2"/>
          <a:srcRect l="0" r="0" t="0" b="0"/>
          <a:stretch/>
        </p:blipFill>
        <p:spPr>
          <a:xfrm>
            <a:off x="8412480" y="1463040"/>
            <a:ext cx="1920240" cy="1920240"/>
          </a:xfrm>
          <a:prstGeom prst="rect">
            <a:avLst/>
          </a:prstGeom>
        </p:spPr>
      </p:pic>
      <p:sp>
        <p:nvSpPr>
          <p:cNvPr id="11" name="Shape 7"/>
          <p:cNvSpPr/>
          <p:nvPr/>
        </p:nvSpPr>
        <p:spPr>
          <a:xfrm>
            <a:off x="8458200" y="3813048"/>
            <a:ext cx="128016" cy="128016"/>
          </a:xfrm>
          <a:prstGeom prst="ellipse">
            <a:avLst/>
          </a:prstGeom>
          <a:solidFill>
            <a:srgbClr val="F2A900"/>
          </a:solidFill>
          <a:ln w="12700">
            <a:solidFill>
              <a:srgbClr val="F2A900">
                <a:alpha val="0"/>
              </a:srgbClr>
            </a:solidFill>
            <a:prstDash val="solid"/>
          </a:ln>
        </p:spPr>
      </p:sp>
      <p:sp>
        <p:nvSpPr>
          <p:cNvPr id="12" name="Text 8"/>
          <p:cNvSpPr/>
          <p:nvPr/>
        </p:nvSpPr>
        <p:spPr>
          <a:xfrm>
            <a:off x="8714232" y="3703320"/>
            <a:ext cx="2578608" cy="5181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Login y registro con selección de rol.</a:t>
            </a:r>
            <a:endParaRPr lang="en-US" sz="2400" dirty="0"/>
          </a:p>
        </p:txBody>
      </p:sp>
      <p:sp>
        <p:nvSpPr>
          <p:cNvPr id="13" name="Shape 9"/>
          <p:cNvSpPr/>
          <p:nvPr/>
        </p:nvSpPr>
        <p:spPr>
          <a:xfrm>
            <a:off x="8458200" y="4376928"/>
            <a:ext cx="128016" cy="128016"/>
          </a:xfrm>
          <a:prstGeom prst="ellipse">
            <a:avLst/>
          </a:prstGeom>
          <a:solidFill>
            <a:srgbClr val="F2A900"/>
          </a:solidFill>
          <a:ln w="12700">
            <a:solidFill>
              <a:srgbClr val="F2A900">
                <a:alpha val="0"/>
              </a:srgbClr>
            </a:solidFill>
            <a:prstDash val="solid"/>
          </a:ln>
        </p:spPr>
      </p:sp>
      <p:sp>
        <p:nvSpPr>
          <p:cNvPr id="14" name="Text 10"/>
          <p:cNvSpPr/>
          <p:nvPr/>
        </p:nvSpPr>
        <p:spPr>
          <a:xfrm>
            <a:off x="8714232" y="4267200"/>
            <a:ext cx="2578608" cy="5181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Panel médico con gestión y asignaciones.</a:t>
            </a:r>
            <a:endParaRPr lang="en-US" sz="2400" dirty="0"/>
          </a:p>
        </p:txBody>
      </p:sp>
      <p:sp>
        <p:nvSpPr>
          <p:cNvPr id="15" name="Shape 11"/>
          <p:cNvSpPr/>
          <p:nvPr/>
        </p:nvSpPr>
        <p:spPr>
          <a:xfrm>
            <a:off x="8458200" y="4940808"/>
            <a:ext cx="128016" cy="128016"/>
          </a:xfrm>
          <a:prstGeom prst="ellipse">
            <a:avLst/>
          </a:prstGeom>
          <a:solidFill>
            <a:srgbClr val="F2A900"/>
          </a:solidFill>
          <a:ln w="12700">
            <a:solidFill>
              <a:srgbClr val="F2A900">
                <a:alpha val="0"/>
              </a:srgbClr>
            </a:solidFill>
            <a:prstDash val="solid"/>
          </a:ln>
        </p:spPr>
      </p:sp>
      <p:sp>
        <p:nvSpPr>
          <p:cNvPr id="16" name="Text 12"/>
          <p:cNvSpPr/>
          <p:nvPr/>
        </p:nvSpPr>
        <p:spPr>
          <a:xfrm>
            <a:off x="8714232" y="4831080"/>
            <a:ext cx="2578608" cy="518160"/>
          </a:xfrm>
          <a:prstGeom prst="rect">
            <a:avLst/>
          </a:prstGeom>
          <a:noFill/>
          <a:ln/>
        </p:spPr>
        <p:txBody>
          <a:bodyPr wrap="square" lIns="254" tIns="254" rIns="254" bIns="254"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Panel paciente con citas, perfil y pautas.</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8. Despliegue local</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Base de datos, backend y frontend</a:t>
            </a:r>
            <a:endParaRPr lang="en-US" sz="2400" dirty="0"/>
          </a:p>
        </p:txBody>
      </p:sp>
      <p:sp>
        <p:nvSpPr>
          <p:cNvPr id="8" name="Shape 6"/>
          <p:cNvSpPr/>
          <p:nvPr/>
        </p:nvSpPr>
        <p:spPr>
          <a:xfrm>
            <a:off x="2834640" y="3063240"/>
            <a:ext cx="1143000" cy="0"/>
          </a:xfrm>
          <a:prstGeom prst="line">
            <a:avLst/>
          </a:prstGeom>
          <a:noFill/>
          <a:ln w="25400">
            <a:solidFill>
              <a:srgbClr val="00A6B4"/>
            </a:solidFill>
            <a:prstDash val="solid"/>
            <a:headEnd type="none"/>
            <a:tailEnd type="triangle"/>
          </a:ln>
        </p:spPr>
      </p:sp>
      <p:sp>
        <p:nvSpPr>
          <p:cNvPr id="9" name="Shape 7"/>
          <p:cNvSpPr/>
          <p:nvPr/>
        </p:nvSpPr>
        <p:spPr>
          <a:xfrm>
            <a:off x="6309360" y="3063240"/>
            <a:ext cx="1143000" cy="0"/>
          </a:xfrm>
          <a:prstGeom prst="line">
            <a:avLst/>
          </a:prstGeom>
          <a:noFill/>
          <a:ln w="25400">
            <a:solidFill>
              <a:srgbClr val="00A6B4"/>
            </a:solidFill>
            <a:prstDash val="solid"/>
            <a:headEnd type="none"/>
            <a:tailEnd type="triangle"/>
          </a:ln>
        </p:spPr>
      </p:sp>
      <p:sp>
        <p:nvSpPr>
          <p:cNvPr id="10" name="Shape 8"/>
          <p:cNvSpPr/>
          <p:nvPr/>
        </p:nvSpPr>
        <p:spPr>
          <a:xfrm>
            <a:off x="822960" y="2148840"/>
            <a:ext cx="2011680" cy="1828800"/>
          </a:xfrm>
          <a:prstGeom prst="roundRect">
            <a:avLst>
              <a:gd name="adj" fmla="val 4000"/>
            </a:avLst>
          </a:prstGeom>
          <a:solidFill>
            <a:srgbClr val="FFFFFF"/>
          </a:solidFill>
          <a:ln w="19050">
            <a:solidFill>
              <a:srgbClr val="2CA58D"/>
            </a:solidFill>
            <a:prstDash val="solid"/>
          </a:ln>
        </p:spPr>
      </p:sp>
      <p:sp>
        <p:nvSpPr>
          <p:cNvPr id="11" name="Text 9"/>
          <p:cNvSpPr/>
          <p:nvPr/>
        </p:nvSpPr>
        <p:spPr>
          <a:xfrm>
            <a:off x="914400" y="2258568"/>
            <a:ext cx="1828800" cy="1645920"/>
          </a:xfrm>
          <a:prstGeom prst="rect">
            <a:avLst/>
          </a:prstGeom>
          <a:noFill/>
          <a:ln/>
        </p:spPr>
        <p:txBody>
          <a:bodyPr wrap="square" lIns="254" tIns="254" rIns="254" bIns="254" rtlCol="0" anchor="ctr">
            <a:normAutofit/>
          </a:bodyPr>
          <a:lstStyle/>
          <a:p>
            <a:pPr algn="ctr" indent="0" marL="0">
              <a:buNone/>
            </a:pPr>
            <a:r>
              <a:rPr lang="en-US" sz="2400" b="1" dirty="0">
                <a:solidFill>
                  <a:srgbClr val="102A43"/>
                </a:solidFill>
                <a:latin typeface="Arial" pitchFamily="34" charset="0"/>
                <a:ea typeface="Arial" pitchFamily="34" charset="-122"/>
                <a:cs typeface="Arial" pitchFamily="34" charset="-120"/>
              </a:rPr>
              <a:t>1</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MySQL</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Scripts SQL</a:t>
            </a:r>
            <a:endParaRPr lang="en-US" sz="2400" dirty="0"/>
          </a:p>
        </p:txBody>
      </p:sp>
      <p:sp>
        <p:nvSpPr>
          <p:cNvPr id="12" name="Shape 10"/>
          <p:cNvSpPr/>
          <p:nvPr/>
        </p:nvSpPr>
        <p:spPr>
          <a:xfrm>
            <a:off x="3977640" y="2148840"/>
            <a:ext cx="2331720" cy="1828800"/>
          </a:xfrm>
          <a:prstGeom prst="roundRect">
            <a:avLst>
              <a:gd name="adj" fmla="val 4000"/>
            </a:avLst>
          </a:prstGeom>
          <a:solidFill>
            <a:srgbClr val="FFFFFF"/>
          </a:solidFill>
          <a:ln w="19050">
            <a:solidFill>
              <a:srgbClr val="00A6B4"/>
            </a:solidFill>
            <a:prstDash val="solid"/>
          </a:ln>
        </p:spPr>
      </p:sp>
      <p:sp>
        <p:nvSpPr>
          <p:cNvPr id="13" name="Text 11"/>
          <p:cNvSpPr/>
          <p:nvPr/>
        </p:nvSpPr>
        <p:spPr>
          <a:xfrm>
            <a:off x="4069080" y="2258568"/>
            <a:ext cx="2148840" cy="1645920"/>
          </a:xfrm>
          <a:prstGeom prst="rect">
            <a:avLst/>
          </a:prstGeom>
          <a:noFill/>
          <a:ln/>
        </p:spPr>
        <p:txBody>
          <a:bodyPr wrap="square" lIns="254" tIns="254" rIns="254" bIns="254" rtlCol="0" anchor="ctr">
            <a:normAutofit/>
          </a:bodyPr>
          <a:lstStyle/>
          <a:p>
            <a:pPr algn="ctr" indent="0" marL="0">
              <a:buNone/>
            </a:pPr>
            <a:r>
              <a:rPr lang="en-US" sz="2400" b="1" dirty="0">
                <a:solidFill>
                  <a:srgbClr val="102A43"/>
                </a:solidFill>
                <a:latin typeface="Arial" pitchFamily="34" charset="0"/>
                <a:ea typeface="Arial" pitchFamily="34" charset="-122"/>
                <a:cs typeface="Arial" pitchFamily="34" charset="-120"/>
              </a:rPr>
              <a:t>2</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Backend</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FastAPI + Uvicorn</a:t>
            </a:r>
            <a:endParaRPr lang="en-US" sz="2400" dirty="0"/>
          </a:p>
        </p:txBody>
      </p:sp>
      <p:sp>
        <p:nvSpPr>
          <p:cNvPr id="14" name="Shape 12"/>
          <p:cNvSpPr/>
          <p:nvPr/>
        </p:nvSpPr>
        <p:spPr>
          <a:xfrm>
            <a:off x="7452360" y="2148840"/>
            <a:ext cx="2331720" cy="1828800"/>
          </a:xfrm>
          <a:prstGeom prst="roundRect">
            <a:avLst>
              <a:gd name="adj" fmla="val 4000"/>
            </a:avLst>
          </a:prstGeom>
          <a:solidFill>
            <a:srgbClr val="FFFFFF"/>
          </a:solidFill>
          <a:ln w="19050">
            <a:solidFill>
              <a:srgbClr val="F2A900"/>
            </a:solidFill>
            <a:prstDash val="solid"/>
          </a:ln>
        </p:spPr>
      </p:sp>
      <p:sp>
        <p:nvSpPr>
          <p:cNvPr id="15" name="Text 13"/>
          <p:cNvSpPr/>
          <p:nvPr/>
        </p:nvSpPr>
        <p:spPr>
          <a:xfrm>
            <a:off x="7543800" y="2258568"/>
            <a:ext cx="2148840" cy="1645920"/>
          </a:xfrm>
          <a:prstGeom prst="rect">
            <a:avLst/>
          </a:prstGeom>
          <a:noFill/>
          <a:ln/>
        </p:spPr>
        <p:txBody>
          <a:bodyPr wrap="square" lIns="254" tIns="254" rIns="254" bIns="254" rtlCol="0" anchor="ctr">
            <a:normAutofit/>
          </a:bodyPr>
          <a:lstStyle/>
          <a:p>
            <a:pPr algn="ctr" indent="0" marL="0">
              <a:buNone/>
            </a:pPr>
            <a:r>
              <a:rPr lang="en-US" sz="2400" b="1" dirty="0">
                <a:solidFill>
                  <a:srgbClr val="102A43"/>
                </a:solidFill>
                <a:latin typeface="Arial" pitchFamily="34" charset="0"/>
                <a:ea typeface="Arial" pitchFamily="34" charset="-122"/>
                <a:cs typeface="Arial" pitchFamily="34" charset="-120"/>
              </a:rPr>
              <a:t>3</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Frontend</a:t>
            </a:r>
            <a:endParaRPr lang="en-US" sz="2400" dirty="0"/>
          </a:p>
          <a:p>
            <a:pPr algn="ctr" indent="0" marL="0">
              <a:buNone/>
            </a:pPr>
            <a:r>
              <a:rPr lang="en-US" sz="2400" b="1" dirty="0">
                <a:solidFill>
                  <a:srgbClr val="102A43"/>
                </a:solidFill>
                <a:latin typeface="Arial" pitchFamily="34" charset="0"/>
                <a:ea typeface="Arial" pitchFamily="34" charset="-122"/>
                <a:cs typeface="Arial" pitchFamily="34" charset="-120"/>
              </a:rPr>
              <a:t>React + Vite</a:t>
            </a:r>
            <a:endParaRPr lang="en-US" sz="2400" dirty="0"/>
          </a:p>
        </p:txBody>
      </p:sp>
      <p:sp>
        <p:nvSpPr>
          <p:cNvPr id="16" name="Shape 14"/>
          <p:cNvSpPr/>
          <p:nvPr/>
        </p:nvSpPr>
        <p:spPr>
          <a:xfrm>
            <a:off x="1051560" y="4983480"/>
            <a:ext cx="10012680" cy="960120"/>
          </a:xfrm>
          <a:prstGeom prst="roundRect">
            <a:avLst>
              <a:gd name="adj" fmla="val 7619"/>
            </a:avLst>
          </a:prstGeom>
          <a:solidFill>
            <a:srgbClr val="FFFFFF"/>
          </a:solidFill>
          <a:ln w="19050">
            <a:solidFill>
              <a:srgbClr val="00A6B4"/>
            </a:solidFill>
            <a:prstDash val="solid"/>
          </a:ln>
        </p:spPr>
      </p:sp>
      <p:sp>
        <p:nvSpPr>
          <p:cNvPr id="17" name="Shape 15"/>
          <p:cNvSpPr/>
          <p:nvPr/>
        </p:nvSpPr>
        <p:spPr>
          <a:xfrm>
            <a:off x="1051560" y="4983480"/>
            <a:ext cx="82296" cy="960120"/>
          </a:xfrm>
          <a:prstGeom prst="rect">
            <a:avLst/>
          </a:prstGeom>
          <a:solidFill>
            <a:srgbClr val="00A6B4"/>
          </a:solidFill>
          <a:ln w="12700">
            <a:solidFill>
              <a:srgbClr val="00A6B4">
                <a:alpha val="0"/>
              </a:srgbClr>
            </a:solidFill>
            <a:prstDash val="solid"/>
          </a:ln>
        </p:spPr>
      </p:sp>
      <p:sp>
        <p:nvSpPr>
          <p:cNvPr id="18" name="Text 16"/>
          <p:cNvSpPr/>
          <p:nvPr/>
        </p:nvSpPr>
        <p:spPr>
          <a:xfrm>
            <a:off x="1280160" y="5120640"/>
            <a:ext cx="96469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Requisitos previos</a:t>
            </a:r>
            <a:endParaRPr lang="en-US" sz="2400" dirty="0"/>
          </a:p>
        </p:txBody>
      </p:sp>
      <p:sp>
        <p:nvSpPr>
          <p:cNvPr id="19" name="Text 17"/>
          <p:cNvSpPr/>
          <p:nvPr/>
        </p:nvSpPr>
        <p:spPr>
          <a:xfrm>
            <a:off x="1280160" y="5550408"/>
            <a:ext cx="9646920" cy="30175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Python 3.x, Node.js, npm, MySQL, navegador web y dependencias documentadas.</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8. Pruebas funcionales</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Validación de caja negra sobre casos de uso</a:t>
            </a:r>
            <a:endParaRPr lang="en-US" sz="2400" dirty="0"/>
          </a:p>
        </p:txBody>
      </p:sp>
      <p:sp>
        <p:nvSpPr>
          <p:cNvPr id="8" name="Shape 6"/>
          <p:cNvSpPr/>
          <p:nvPr/>
        </p:nvSpPr>
        <p:spPr>
          <a:xfrm>
            <a:off x="868680" y="1508760"/>
            <a:ext cx="2377440" cy="1554480"/>
          </a:xfrm>
          <a:prstGeom prst="roundRect">
            <a:avLst>
              <a:gd name="adj" fmla="val 4706"/>
            </a:avLst>
          </a:prstGeom>
          <a:solidFill>
            <a:srgbClr val="FFFFFF"/>
          </a:solidFill>
          <a:ln w="12700">
            <a:solidFill>
              <a:srgbClr val="D6E4E8"/>
            </a:solidFill>
            <a:prstDash val="solid"/>
          </a:ln>
        </p:spPr>
      </p:sp>
      <p:sp>
        <p:nvSpPr>
          <p:cNvPr id="9" name="Text 7"/>
          <p:cNvSpPr/>
          <p:nvPr/>
        </p:nvSpPr>
        <p:spPr>
          <a:xfrm>
            <a:off x="1005840" y="1618488"/>
            <a:ext cx="2103120" cy="652882"/>
          </a:xfrm>
          <a:prstGeom prst="rect">
            <a:avLst/>
          </a:prstGeom>
          <a:noFill/>
          <a:ln/>
        </p:spPr>
        <p:txBody>
          <a:bodyPr wrap="square" lIns="0" tIns="0" rIns="0" bIns="0" rtlCol="0" anchor="ctr">
            <a:normAutofit/>
          </a:bodyPr>
          <a:lstStyle/>
          <a:p>
            <a:pPr algn="ctr" indent="0" marL="0">
              <a:buNone/>
            </a:pPr>
            <a:r>
              <a:rPr lang="en-US" sz="3400" b="1" dirty="0">
                <a:solidFill>
                  <a:srgbClr val="00A6B4"/>
                </a:solidFill>
                <a:latin typeface="Arial" pitchFamily="34" charset="0"/>
                <a:ea typeface="Arial" pitchFamily="34" charset="-122"/>
                <a:cs typeface="Arial" pitchFamily="34" charset="-120"/>
              </a:rPr>
              <a:t>14</a:t>
            </a:r>
            <a:endParaRPr lang="en-US" sz="3400" dirty="0"/>
          </a:p>
        </p:txBody>
      </p:sp>
      <p:sp>
        <p:nvSpPr>
          <p:cNvPr id="10" name="Text 8"/>
          <p:cNvSpPr/>
          <p:nvPr/>
        </p:nvSpPr>
        <p:spPr>
          <a:xfrm>
            <a:off x="1005840" y="2410358"/>
            <a:ext cx="2103120" cy="497434"/>
          </a:xfrm>
          <a:prstGeom prst="rect">
            <a:avLst/>
          </a:prstGeom>
          <a:noFill/>
          <a:ln/>
        </p:spPr>
        <p:txBody>
          <a:bodyPr wrap="square" lIns="0" tIns="0" rIns="0" bIns="0" rtlCol="0" anchor="ctr">
            <a:normAutofit/>
          </a:bodyPr>
          <a:lstStyle/>
          <a:p>
            <a:pPr algn="ctr" indent="0" marL="0">
              <a:buNone/>
            </a:pPr>
            <a:r>
              <a:rPr lang="en-US" sz="2400" dirty="0">
                <a:solidFill>
                  <a:srgbClr val="102A43"/>
                </a:solidFill>
                <a:latin typeface="Arial" pitchFamily="34" charset="0"/>
                <a:ea typeface="Arial" pitchFamily="34" charset="-122"/>
                <a:cs typeface="Arial" pitchFamily="34" charset="-120"/>
              </a:rPr>
              <a:t>pruebas funcionales</a:t>
            </a:r>
            <a:endParaRPr lang="en-US" sz="2400" dirty="0"/>
          </a:p>
        </p:txBody>
      </p:sp>
      <p:sp>
        <p:nvSpPr>
          <p:cNvPr id="11" name="Shape 9"/>
          <p:cNvSpPr/>
          <p:nvPr/>
        </p:nvSpPr>
        <p:spPr>
          <a:xfrm>
            <a:off x="3520440" y="1508760"/>
            <a:ext cx="2377440" cy="1554480"/>
          </a:xfrm>
          <a:prstGeom prst="roundRect">
            <a:avLst>
              <a:gd name="adj" fmla="val 4706"/>
            </a:avLst>
          </a:prstGeom>
          <a:solidFill>
            <a:srgbClr val="FFFFFF"/>
          </a:solidFill>
          <a:ln w="12700">
            <a:solidFill>
              <a:srgbClr val="D6E4E8"/>
            </a:solidFill>
            <a:prstDash val="solid"/>
          </a:ln>
        </p:spPr>
      </p:sp>
      <p:sp>
        <p:nvSpPr>
          <p:cNvPr id="12" name="Text 10"/>
          <p:cNvSpPr/>
          <p:nvPr/>
        </p:nvSpPr>
        <p:spPr>
          <a:xfrm>
            <a:off x="3657600" y="1618488"/>
            <a:ext cx="2103120" cy="652882"/>
          </a:xfrm>
          <a:prstGeom prst="rect">
            <a:avLst/>
          </a:prstGeom>
          <a:noFill/>
          <a:ln/>
        </p:spPr>
        <p:txBody>
          <a:bodyPr wrap="square" lIns="0" tIns="0" rIns="0" bIns="0" rtlCol="0" anchor="ctr">
            <a:normAutofit/>
          </a:bodyPr>
          <a:lstStyle/>
          <a:p>
            <a:pPr algn="ctr" indent="0" marL="0">
              <a:buNone/>
            </a:pPr>
            <a:r>
              <a:rPr lang="en-US" sz="3400" b="1" dirty="0">
                <a:solidFill>
                  <a:srgbClr val="2CA58D"/>
                </a:solidFill>
                <a:latin typeface="Arial" pitchFamily="34" charset="0"/>
                <a:ea typeface="Arial" pitchFamily="34" charset="-122"/>
                <a:cs typeface="Arial" pitchFamily="34" charset="-120"/>
              </a:rPr>
              <a:t>100%</a:t>
            </a:r>
            <a:endParaRPr lang="en-US" sz="3400" dirty="0"/>
          </a:p>
        </p:txBody>
      </p:sp>
      <p:sp>
        <p:nvSpPr>
          <p:cNvPr id="13" name="Text 11"/>
          <p:cNvSpPr/>
          <p:nvPr/>
        </p:nvSpPr>
        <p:spPr>
          <a:xfrm>
            <a:off x="3657600" y="2410358"/>
            <a:ext cx="2103120" cy="497434"/>
          </a:xfrm>
          <a:prstGeom prst="rect">
            <a:avLst/>
          </a:prstGeom>
          <a:noFill/>
          <a:ln/>
        </p:spPr>
        <p:txBody>
          <a:bodyPr wrap="square" lIns="0" tIns="0" rIns="0" bIns="0" rtlCol="0" anchor="ctr">
            <a:normAutofit/>
          </a:bodyPr>
          <a:lstStyle/>
          <a:p>
            <a:pPr algn="ctr" indent="0" marL="0">
              <a:buNone/>
            </a:pPr>
            <a:r>
              <a:rPr lang="en-US" sz="2400" dirty="0">
                <a:solidFill>
                  <a:srgbClr val="102A43"/>
                </a:solidFill>
                <a:latin typeface="Arial" pitchFamily="34" charset="0"/>
                <a:ea typeface="Arial" pitchFamily="34" charset="-122"/>
                <a:cs typeface="Arial" pitchFamily="34" charset="-120"/>
              </a:rPr>
              <a:t>resultado correcto</a:t>
            </a:r>
            <a:endParaRPr lang="en-US" sz="2400" dirty="0"/>
          </a:p>
        </p:txBody>
      </p:sp>
      <p:sp>
        <p:nvSpPr>
          <p:cNvPr id="14" name="Shape 12"/>
          <p:cNvSpPr/>
          <p:nvPr/>
        </p:nvSpPr>
        <p:spPr>
          <a:xfrm>
            <a:off x="6172200" y="1508760"/>
            <a:ext cx="2377440" cy="1554480"/>
          </a:xfrm>
          <a:prstGeom prst="roundRect">
            <a:avLst>
              <a:gd name="adj" fmla="val 4706"/>
            </a:avLst>
          </a:prstGeom>
          <a:solidFill>
            <a:srgbClr val="FFFFFF"/>
          </a:solidFill>
          <a:ln w="12700">
            <a:solidFill>
              <a:srgbClr val="D6E4E8"/>
            </a:solidFill>
            <a:prstDash val="solid"/>
          </a:ln>
        </p:spPr>
      </p:sp>
      <p:sp>
        <p:nvSpPr>
          <p:cNvPr id="15" name="Text 13"/>
          <p:cNvSpPr/>
          <p:nvPr/>
        </p:nvSpPr>
        <p:spPr>
          <a:xfrm>
            <a:off x="6309360" y="1618488"/>
            <a:ext cx="2103120" cy="652882"/>
          </a:xfrm>
          <a:prstGeom prst="rect">
            <a:avLst/>
          </a:prstGeom>
          <a:noFill/>
          <a:ln/>
        </p:spPr>
        <p:txBody>
          <a:bodyPr wrap="square" lIns="0" tIns="0" rIns="0" bIns="0" rtlCol="0" anchor="ctr">
            <a:normAutofit/>
          </a:bodyPr>
          <a:lstStyle/>
          <a:p>
            <a:pPr algn="ctr" indent="0" marL="0">
              <a:buNone/>
            </a:pPr>
            <a:r>
              <a:rPr lang="en-US" sz="3400" b="1" dirty="0">
                <a:solidFill>
                  <a:srgbClr val="F2A900"/>
                </a:solidFill>
                <a:latin typeface="Arial" pitchFamily="34" charset="0"/>
                <a:ea typeface="Arial" pitchFamily="34" charset="-122"/>
                <a:cs typeface="Arial" pitchFamily="34" charset="-120"/>
              </a:rPr>
              <a:t>2</a:t>
            </a:r>
            <a:endParaRPr lang="en-US" sz="3400" dirty="0"/>
          </a:p>
        </p:txBody>
      </p:sp>
      <p:sp>
        <p:nvSpPr>
          <p:cNvPr id="16" name="Text 14"/>
          <p:cNvSpPr/>
          <p:nvPr/>
        </p:nvSpPr>
        <p:spPr>
          <a:xfrm>
            <a:off x="6309360" y="2410358"/>
            <a:ext cx="2103120" cy="497434"/>
          </a:xfrm>
          <a:prstGeom prst="rect">
            <a:avLst/>
          </a:prstGeom>
          <a:noFill/>
          <a:ln/>
        </p:spPr>
        <p:txBody>
          <a:bodyPr wrap="square" lIns="0" tIns="0" rIns="0" bIns="0" rtlCol="0" anchor="ctr">
            <a:normAutofit/>
          </a:bodyPr>
          <a:lstStyle/>
          <a:p>
            <a:pPr algn="ctr" indent="0" marL="0">
              <a:buNone/>
            </a:pPr>
            <a:r>
              <a:rPr lang="en-US" sz="2400" dirty="0">
                <a:solidFill>
                  <a:srgbClr val="102A43"/>
                </a:solidFill>
                <a:latin typeface="Arial" pitchFamily="34" charset="0"/>
                <a:ea typeface="Arial" pitchFamily="34" charset="-122"/>
                <a:cs typeface="Arial" pitchFamily="34" charset="-120"/>
              </a:rPr>
              <a:t>roles verificados</a:t>
            </a:r>
            <a:endParaRPr lang="en-US" sz="2400" dirty="0"/>
          </a:p>
        </p:txBody>
      </p:sp>
      <p:sp>
        <p:nvSpPr>
          <p:cNvPr id="17" name="Shape 15"/>
          <p:cNvSpPr/>
          <p:nvPr/>
        </p:nvSpPr>
        <p:spPr>
          <a:xfrm>
            <a:off x="8823960" y="1508760"/>
            <a:ext cx="2377440" cy="1554480"/>
          </a:xfrm>
          <a:prstGeom prst="roundRect">
            <a:avLst>
              <a:gd name="adj" fmla="val 4706"/>
            </a:avLst>
          </a:prstGeom>
          <a:solidFill>
            <a:srgbClr val="FFFFFF"/>
          </a:solidFill>
          <a:ln w="12700">
            <a:solidFill>
              <a:srgbClr val="D6E4E8"/>
            </a:solidFill>
            <a:prstDash val="solid"/>
          </a:ln>
        </p:spPr>
      </p:sp>
      <p:sp>
        <p:nvSpPr>
          <p:cNvPr id="18" name="Text 16"/>
          <p:cNvSpPr/>
          <p:nvPr/>
        </p:nvSpPr>
        <p:spPr>
          <a:xfrm>
            <a:off x="8961120" y="1618488"/>
            <a:ext cx="2103120" cy="652882"/>
          </a:xfrm>
          <a:prstGeom prst="rect">
            <a:avLst/>
          </a:prstGeom>
          <a:noFill/>
          <a:ln/>
        </p:spPr>
        <p:txBody>
          <a:bodyPr wrap="square" lIns="0" tIns="0" rIns="0" bIns="0" rtlCol="0" anchor="ctr">
            <a:normAutofit/>
          </a:bodyPr>
          <a:lstStyle/>
          <a:p>
            <a:pPr algn="ctr" indent="0" marL="0">
              <a:buNone/>
            </a:pPr>
            <a:r>
              <a:rPr lang="en-US" sz="3400" b="1" dirty="0">
                <a:solidFill>
                  <a:srgbClr val="8B5CF6"/>
                </a:solidFill>
                <a:latin typeface="Arial" pitchFamily="34" charset="0"/>
                <a:ea typeface="Arial" pitchFamily="34" charset="-122"/>
                <a:cs typeface="Arial" pitchFamily="34" charset="-120"/>
              </a:rPr>
              <a:t>Local</a:t>
            </a:r>
            <a:endParaRPr lang="en-US" sz="3400" dirty="0"/>
          </a:p>
        </p:txBody>
      </p:sp>
      <p:sp>
        <p:nvSpPr>
          <p:cNvPr id="19" name="Text 17"/>
          <p:cNvSpPr/>
          <p:nvPr/>
        </p:nvSpPr>
        <p:spPr>
          <a:xfrm>
            <a:off x="8961120" y="2410358"/>
            <a:ext cx="2103120" cy="497434"/>
          </a:xfrm>
          <a:prstGeom prst="rect">
            <a:avLst/>
          </a:prstGeom>
          <a:noFill/>
          <a:ln/>
        </p:spPr>
        <p:txBody>
          <a:bodyPr wrap="square" lIns="0" tIns="0" rIns="0" bIns="0" rtlCol="0" anchor="ctr">
            <a:normAutofit/>
          </a:bodyPr>
          <a:lstStyle/>
          <a:p>
            <a:pPr algn="ctr" indent="0" marL="0">
              <a:buNone/>
            </a:pPr>
            <a:r>
              <a:rPr lang="en-US" sz="2400" dirty="0">
                <a:solidFill>
                  <a:srgbClr val="102A43"/>
                </a:solidFill>
                <a:latin typeface="Arial" pitchFamily="34" charset="0"/>
                <a:ea typeface="Arial" pitchFamily="34" charset="-122"/>
                <a:cs typeface="Arial" pitchFamily="34" charset="-120"/>
              </a:rPr>
              <a:t>entorno de ejecución</a:t>
            </a:r>
            <a:endParaRPr lang="en-US" sz="2400" dirty="0"/>
          </a:p>
        </p:txBody>
      </p:sp>
      <p:sp>
        <p:nvSpPr>
          <p:cNvPr id="20" name="Shape 18"/>
          <p:cNvSpPr/>
          <p:nvPr/>
        </p:nvSpPr>
        <p:spPr>
          <a:xfrm>
            <a:off x="960120" y="3904488"/>
            <a:ext cx="128016" cy="128016"/>
          </a:xfrm>
          <a:prstGeom prst="ellipse">
            <a:avLst/>
          </a:prstGeom>
          <a:solidFill>
            <a:srgbClr val="2CA58D"/>
          </a:solidFill>
          <a:ln w="12700">
            <a:solidFill>
              <a:srgbClr val="2CA58D">
                <a:alpha val="0"/>
              </a:srgbClr>
            </a:solidFill>
            <a:prstDash val="solid"/>
          </a:ln>
        </p:spPr>
      </p:sp>
      <p:sp>
        <p:nvSpPr>
          <p:cNvPr id="21" name="Text 19"/>
          <p:cNvSpPr/>
          <p:nvPr/>
        </p:nvSpPr>
        <p:spPr>
          <a:xfrm>
            <a:off x="1216152" y="3794760"/>
            <a:ext cx="9939528" cy="42291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Registro válido, duplicado y login correcto/incorrecto.</a:t>
            </a:r>
            <a:endParaRPr lang="en-US" sz="2600" dirty="0"/>
          </a:p>
        </p:txBody>
      </p:sp>
      <p:sp>
        <p:nvSpPr>
          <p:cNvPr id="22" name="Shape 20"/>
          <p:cNvSpPr/>
          <p:nvPr/>
        </p:nvSpPr>
        <p:spPr>
          <a:xfrm>
            <a:off x="960120" y="4373118"/>
            <a:ext cx="128016" cy="128016"/>
          </a:xfrm>
          <a:prstGeom prst="ellipse">
            <a:avLst/>
          </a:prstGeom>
          <a:solidFill>
            <a:srgbClr val="2CA58D"/>
          </a:solidFill>
          <a:ln w="12700">
            <a:solidFill>
              <a:srgbClr val="2CA58D">
                <a:alpha val="0"/>
              </a:srgbClr>
            </a:solidFill>
            <a:prstDash val="solid"/>
          </a:ln>
        </p:spPr>
      </p:sp>
      <p:sp>
        <p:nvSpPr>
          <p:cNvPr id="23" name="Text 21"/>
          <p:cNvSpPr/>
          <p:nvPr/>
        </p:nvSpPr>
        <p:spPr>
          <a:xfrm>
            <a:off x="1216152" y="4263390"/>
            <a:ext cx="9939528" cy="42291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Consulta de pacientes, edición de perfil y gestión de citas.</a:t>
            </a:r>
            <a:endParaRPr lang="en-US" sz="2600" dirty="0"/>
          </a:p>
        </p:txBody>
      </p:sp>
      <p:sp>
        <p:nvSpPr>
          <p:cNvPr id="24" name="Shape 22"/>
          <p:cNvSpPr/>
          <p:nvPr/>
        </p:nvSpPr>
        <p:spPr>
          <a:xfrm>
            <a:off x="960120" y="4841748"/>
            <a:ext cx="128016" cy="128016"/>
          </a:xfrm>
          <a:prstGeom prst="ellipse">
            <a:avLst/>
          </a:prstGeom>
          <a:solidFill>
            <a:srgbClr val="2CA58D"/>
          </a:solidFill>
          <a:ln w="12700">
            <a:solidFill>
              <a:srgbClr val="2CA58D">
                <a:alpha val="0"/>
              </a:srgbClr>
            </a:solidFill>
            <a:prstDash val="solid"/>
          </a:ln>
        </p:spPr>
      </p:sp>
      <p:sp>
        <p:nvSpPr>
          <p:cNvPr id="25" name="Text 23"/>
          <p:cNvSpPr/>
          <p:nvPr/>
        </p:nvSpPr>
        <p:spPr>
          <a:xfrm>
            <a:off x="1216152" y="4732020"/>
            <a:ext cx="9939528" cy="42291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Cancelación con motivo obligatorio.</a:t>
            </a:r>
            <a:endParaRPr lang="en-US" sz="2600" dirty="0"/>
          </a:p>
        </p:txBody>
      </p:sp>
      <p:sp>
        <p:nvSpPr>
          <p:cNvPr id="26" name="Shape 24"/>
          <p:cNvSpPr/>
          <p:nvPr/>
        </p:nvSpPr>
        <p:spPr>
          <a:xfrm>
            <a:off x="960120" y="5310378"/>
            <a:ext cx="128016" cy="128016"/>
          </a:xfrm>
          <a:prstGeom prst="ellipse">
            <a:avLst/>
          </a:prstGeom>
          <a:solidFill>
            <a:srgbClr val="2CA58D"/>
          </a:solidFill>
          <a:ln w="12700">
            <a:solidFill>
              <a:srgbClr val="2CA58D">
                <a:alpha val="0"/>
              </a:srgbClr>
            </a:solidFill>
            <a:prstDash val="solid"/>
          </a:ln>
        </p:spPr>
      </p:sp>
      <p:sp>
        <p:nvSpPr>
          <p:cNvPr id="27" name="Text 25"/>
          <p:cNvSpPr/>
          <p:nvPr/>
        </p:nvSpPr>
        <p:spPr>
          <a:xfrm>
            <a:off x="1216152" y="5200650"/>
            <a:ext cx="9939528" cy="422910"/>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Asignación de ejercicios, medicación y consulta en portal.</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9. Conclusiones</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Objetivos alcanzados y aprendizaje</a:t>
            </a:r>
            <a:endParaRPr lang="en-US" sz="2400" dirty="0"/>
          </a:p>
        </p:txBody>
      </p:sp>
      <p:sp>
        <p:nvSpPr>
          <p:cNvPr id="8" name="Shape 6"/>
          <p:cNvSpPr/>
          <p:nvPr/>
        </p:nvSpPr>
        <p:spPr>
          <a:xfrm>
            <a:off x="1005840" y="1709928"/>
            <a:ext cx="128016" cy="128016"/>
          </a:xfrm>
          <a:prstGeom prst="ellipse">
            <a:avLst/>
          </a:prstGeom>
          <a:solidFill>
            <a:srgbClr val="00A6B4"/>
          </a:solidFill>
          <a:ln w="12700">
            <a:solidFill>
              <a:srgbClr val="00A6B4">
                <a:alpha val="0"/>
              </a:srgbClr>
            </a:solidFill>
            <a:prstDash val="solid"/>
          </a:ln>
        </p:spPr>
      </p:sp>
      <p:sp>
        <p:nvSpPr>
          <p:cNvPr id="9" name="Text 7"/>
          <p:cNvSpPr/>
          <p:nvPr/>
        </p:nvSpPr>
        <p:spPr>
          <a:xfrm>
            <a:off x="1261872" y="1600200"/>
            <a:ext cx="9985248" cy="804672"/>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Se ha desarrollado una aplicación web funcional y defendible.</a:t>
            </a:r>
            <a:endParaRPr lang="en-US" sz="2600" dirty="0"/>
          </a:p>
        </p:txBody>
      </p:sp>
      <p:sp>
        <p:nvSpPr>
          <p:cNvPr id="10" name="Shape 8"/>
          <p:cNvSpPr/>
          <p:nvPr/>
        </p:nvSpPr>
        <p:spPr>
          <a:xfrm>
            <a:off x="1005840" y="2560320"/>
            <a:ext cx="128016" cy="128016"/>
          </a:xfrm>
          <a:prstGeom prst="ellipse">
            <a:avLst/>
          </a:prstGeom>
          <a:solidFill>
            <a:srgbClr val="00A6B4"/>
          </a:solidFill>
          <a:ln w="12700">
            <a:solidFill>
              <a:srgbClr val="00A6B4">
                <a:alpha val="0"/>
              </a:srgbClr>
            </a:solidFill>
            <a:prstDash val="solid"/>
          </a:ln>
        </p:spPr>
      </p:sp>
      <p:sp>
        <p:nvSpPr>
          <p:cNvPr id="11" name="Text 9"/>
          <p:cNvSpPr/>
          <p:nvPr/>
        </p:nvSpPr>
        <p:spPr>
          <a:xfrm>
            <a:off x="1261872" y="2450592"/>
            <a:ext cx="9985248" cy="804672"/>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Se han cubierto los flujos principales de médico y paciente.</a:t>
            </a:r>
            <a:endParaRPr lang="en-US" sz="2600" dirty="0"/>
          </a:p>
        </p:txBody>
      </p:sp>
      <p:sp>
        <p:nvSpPr>
          <p:cNvPr id="12" name="Shape 10"/>
          <p:cNvSpPr/>
          <p:nvPr/>
        </p:nvSpPr>
        <p:spPr>
          <a:xfrm>
            <a:off x="1005840" y="3410712"/>
            <a:ext cx="128016" cy="128016"/>
          </a:xfrm>
          <a:prstGeom prst="ellipse">
            <a:avLst/>
          </a:prstGeom>
          <a:solidFill>
            <a:srgbClr val="00A6B4"/>
          </a:solidFill>
          <a:ln w="12700">
            <a:solidFill>
              <a:srgbClr val="00A6B4">
                <a:alpha val="0"/>
              </a:srgbClr>
            </a:solidFill>
            <a:prstDash val="solid"/>
          </a:ln>
        </p:spPr>
      </p:sp>
      <p:sp>
        <p:nvSpPr>
          <p:cNvPr id="13" name="Text 11"/>
          <p:cNvSpPr/>
          <p:nvPr/>
        </p:nvSpPr>
        <p:spPr>
          <a:xfrm>
            <a:off x="1261872" y="3300984"/>
            <a:ext cx="9985248" cy="804672"/>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La arquitectura por capas facilita mantenimiento y ampliación.</a:t>
            </a:r>
            <a:endParaRPr lang="en-US" sz="2600" dirty="0"/>
          </a:p>
        </p:txBody>
      </p:sp>
      <p:sp>
        <p:nvSpPr>
          <p:cNvPr id="14" name="Shape 12"/>
          <p:cNvSpPr/>
          <p:nvPr/>
        </p:nvSpPr>
        <p:spPr>
          <a:xfrm>
            <a:off x="1005840" y="4261104"/>
            <a:ext cx="128016" cy="128016"/>
          </a:xfrm>
          <a:prstGeom prst="ellipse">
            <a:avLst/>
          </a:prstGeom>
          <a:solidFill>
            <a:srgbClr val="00A6B4"/>
          </a:solidFill>
          <a:ln w="12700">
            <a:solidFill>
              <a:srgbClr val="00A6B4">
                <a:alpha val="0"/>
              </a:srgbClr>
            </a:solidFill>
            <a:prstDash val="solid"/>
          </a:ln>
        </p:spPr>
      </p:sp>
      <p:sp>
        <p:nvSpPr>
          <p:cNvPr id="15" name="Text 13"/>
          <p:cNvSpPr/>
          <p:nvPr/>
        </p:nvSpPr>
        <p:spPr>
          <a:xfrm>
            <a:off x="1261872" y="4151376"/>
            <a:ext cx="9985248" cy="804672"/>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El alcance se ajustó para priorizar estabilidad y coherencia.</a:t>
            </a:r>
            <a:endParaRPr lang="en-US" sz="2600" dirty="0"/>
          </a:p>
        </p:txBody>
      </p:sp>
      <p:sp>
        <p:nvSpPr>
          <p:cNvPr id="16" name="Shape 14"/>
          <p:cNvSpPr/>
          <p:nvPr/>
        </p:nvSpPr>
        <p:spPr>
          <a:xfrm>
            <a:off x="1005840" y="5111496"/>
            <a:ext cx="128016" cy="128016"/>
          </a:xfrm>
          <a:prstGeom prst="ellipse">
            <a:avLst/>
          </a:prstGeom>
          <a:solidFill>
            <a:srgbClr val="00A6B4"/>
          </a:solidFill>
          <a:ln w="12700">
            <a:solidFill>
              <a:srgbClr val="00A6B4">
                <a:alpha val="0"/>
              </a:srgbClr>
            </a:solidFill>
            <a:prstDash val="solid"/>
          </a:ln>
        </p:spPr>
      </p:sp>
      <p:sp>
        <p:nvSpPr>
          <p:cNvPr id="17" name="Text 15"/>
          <p:cNvSpPr/>
          <p:nvPr/>
        </p:nvSpPr>
        <p:spPr>
          <a:xfrm>
            <a:off x="1261872" y="5001768"/>
            <a:ext cx="9985248" cy="804672"/>
          </a:xfrm>
          <a:prstGeom prst="rect">
            <a:avLst/>
          </a:prstGeom>
          <a:noFill/>
          <a:ln/>
        </p:spPr>
        <p:txBody>
          <a:bodyPr wrap="square" lIns="254" tIns="254" rIns="254" bIns="254" rtlCol="0" anchor="ctr">
            <a:normAutofit/>
          </a:bodyPr>
          <a:lstStyle/>
          <a:p>
            <a:pPr indent="0" marL="0">
              <a:buNone/>
            </a:pPr>
            <a:r>
              <a:rPr lang="en-US" sz="2600" dirty="0">
                <a:solidFill>
                  <a:srgbClr val="102A43"/>
                </a:solidFill>
                <a:latin typeface="Arial" pitchFamily="34" charset="0"/>
                <a:ea typeface="Arial" pitchFamily="34" charset="-122"/>
                <a:cs typeface="Arial" pitchFamily="34" charset="-120"/>
              </a:rPr>
              <a:t>La experiencia reforzó la importancia de planificar y validar.</a:t>
            </a:r>
            <a:endParaRPr lang="en-US" sz="2600" dirty="0"/>
          </a:p>
        </p:txBody>
      </p:sp>
      <p:sp>
        <p:nvSpPr>
          <p:cNvPr id="18" name="Shape 16"/>
          <p:cNvSpPr/>
          <p:nvPr/>
        </p:nvSpPr>
        <p:spPr>
          <a:xfrm>
            <a:off x="2926080" y="5852160"/>
            <a:ext cx="6355080" cy="530352"/>
          </a:xfrm>
          <a:prstGeom prst="roundRect">
            <a:avLst>
              <a:gd name="adj" fmla="val 20690"/>
            </a:avLst>
          </a:prstGeom>
          <a:solidFill>
            <a:srgbClr val="2CA58D"/>
          </a:solidFill>
          <a:ln w="12700">
            <a:solidFill>
              <a:srgbClr val="2CA58D">
                <a:alpha val="0"/>
              </a:srgbClr>
            </a:solidFill>
            <a:prstDash val="solid"/>
          </a:ln>
        </p:spPr>
      </p:sp>
      <p:sp>
        <p:nvSpPr>
          <p:cNvPr id="19" name="Text 17"/>
          <p:cNvSpPr/>
          <p:nvPr/>
        </p:nvSpPr>
        <p:spPr>
          <a:xfrm>
            <a:off x="3063240" y="5980176"/>
            <a:ext cx="6080760" cy="256032"/>
          </a:xfrm>
          <a:prstGeom prst="rect">
            <a:avLst/>
          </a:prstGeom>
          <a:noFill/>
          <a:ln/>
        </p:spPr>
        <p:txBody>
          <a:bodyPr wrap="square" lIns="0" tIns="0" rIns="0" bIns="0" rtlCol="0" anchor="ctr">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Resultado: base sólida para futuras versiones</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10. Vías futuras</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Evolución natural del proyecto</a:t>
            </a:r>
            <a:endParaRPr lang="en-US" sz="2400" dirty="0"/>
          </a:p>
        </p:txBody>
      </p:sp>
      <p:sp>
        <p:nvSpPr>
          <p:cNvPr id="8" name="Shape 6"/>
          <p:cNvSpPr/>
          <p:nvPr/>
        </p:nvSpPr>
        <p:spPr>
          <a:xfrm>
            <a:off x="822960" y="1508760"/>
            <a:ext cx="3383280" cy="1828800"/>
          </a:xfrm>
          <a:prstGeom prst="roundRect">
            <a:avLst>
              <a:gd name="adj" fmla="val 4000"/>
            </a:avLst>
          </a:prstGeom>
          <a:solidFill>
            <a:srgbClr val="FFFFFF"/>
          </a:solidFill>
          <a:ln w="19050">
            <a:solidFill>
              <a:srgbClr val="00A6B4"/>
            </a:solidFill>
            <a:prstDash val="solid"/>
          </a:ln>
        </p:spPr>
      </p:sp>
      <p:sp>
        <p:nvSpPr>
          <p:cNvPr id="9" name="Shape 7"/>
          <p:cNvSpPr/>
          <p:nvPr/>
        </p:nvSpPr>
        <p:spPr>
          <a:xfrm>
            <a:off x="822960" y="1508760"/>
            <a:ext cx="82296" cy="1828800"/>
          </a:xfrm>
          <a:prstGeom prst="rect">
            <a:avLst/>
          </a:prstGeom>
          <a:solidFill>
            <a:srgbClr val="00A6B4"/>
          </a:solidFill>
          <a:ln w="12700">
            <a:solidFill>
              <a:srgbClr val="00A6B4">
                <a:alpha val="0"/>
              </a:srgbClr>
            </a:solidFill>
            <a:prstDash val="solid"/>
          </a:ln>
        </p:spPr>
      </p:sp>
      <p:sp>
        <p:nvSpPr>
          <p:cNvPr id="10" name="Text 8"/>
          <p:cNvSpPr/>
          <p:nvPr/>
        </p:nvSpPr>
        <p:spPr>
          <a:xfrm>
            <a:off x="1051560" y="1645920"/>
            <a:ext cx="30175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Historial clínico</a:t>
            </a:r>
            <a:endParaRPr lang="en-US" sz="2400" dirty="0"/>
          </a:p>
        </p:txBody>
      </p:sp>
      <p:sp>
        <p:nvSpPr>
          <p:cNvPr id="11" name="Text 9"/>
          <p:cNvSpPr/>
          <p:nvPr/>
        </p:nvSpPr>
        <p:spPr>
          <a:xfrm>
            <a:off x="1051560" y="2075688"/>
            <a:ext cx="3017520" cy="117043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Síntomas, evolución, observaciones y documentos.</a:t>
            </a:r>
            <a:endParaRPr lang="en-US" sz="2400" dirty="0"/>
          </a:p>
        </p:txBody>
      </p:sp>
      <p:sp>
        <p:nvSpPr>
          <p:cNvPr id="12" name="Shape 10"/>
          <p:cNvSpPr/>
          <p:nvPr/>
        </p:nvSpPr>
        <p:spPr>
          <a:xfrm>
            <a:off x="4434840" y="1508760"/>
            <a:ext cx="3383280" cy="1828800"/>
          </a:xfrm>
          <a:prstGeom prst="roundRect">
            <a:avLst>
              <a:gd name="adj" fmla="val 4000"/>
            </a:avLst>
          </a:prstGeom>
          <a:solidFill>
            <a:srgbClr val="FFFFFF"/>
          </a:solidFill>
          <a:ln w="19050">
            <a:solidFill>
              <a:srgbClr val="2CA58D"/>
            </a:solidFill>
            <a:prstDash val="solid"/>
          </a:ln>
        </p:spPr>
      </p:sp>
      <p:sp>
        <p:nvSpPr>
          <p:cNvPr id="13" name="Shape 11"/>
          <p:cNvSpPr/>
          <p:nvPr/>
        </p:nvSpPr>
        <p:spPr>
          <a:xfrm>
            <a:off x="4434840" y="1508760"/>
            <a:ext cx="82296" cy="1828800"/>
          </a:xfrm>
          <a:prstGeom prst="rect">
            <a:avLst/>
          </a:prstGeom>
          <a:solidFill>
            <a:srgbClr val="2CA58D"/>
          </a:solidFill>
          <a:ln w="12700">
            <a:solidFill>
              <a:srgbClr val="2CA58D">
                <a:alpha val="0"/>
              </a:srgbClr>
            </a:solidFill>
            <a:prstDash val="solid"/>
          </a:ln>
        </p:spPr>
      </p:sp>
      <p:sp>
        <p:nvSpPr>
          <p:cNvPr id="14" name="Text 12"/>
          <p:cNvSpPr/>
          <p:nvPr/>
        </p:nvSpPr>
        <p:spPr>
          <a:xfrm>
            <a:off x="4663440" y="1645920"/>
            <a:ext cx="30175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Recordatorios</a:t>
            </a:r>
            <a:endParaRPr lang="en-US" sz="2400" dirty="0"/>
          </a:p>
        </p:txBody>
      </p:sp>
      <p:sp>
        <p:nvSpPr>
          <p:cNvPr id="15" name="Text 13"/>
          <p:cNvSpPr/>
          <p:nvPr/>
        </p:nvSpPr>
        <p:spPr>
          <a:xfrm>
            <a:off x="4663440" y="2075688"/>
            <a:ext cx="3017520" cy="117043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Avisos de citas, ejercicios y pautas asignadas.</a:t>
            </a:r>
            <a:endParaRPr lang="en-US" sz="2400" dirty="0"/>
          </a:p>
        </p:txBody>
      </p:sp>
      <p:sp>
        <p:nvSpPr>
          <p:cNvPr id="16" name="Shape 14"/>
          <p:cNvSpPr/>
          <p:nvPr/>
        </p:nvSpPr>
        <p:spPr>
          <a:xfrm>
            <a:off x="8046720" y="1508760"/>
            <a:ext cx="3246120" cy="1828800"/>
          </a:xfrm>
          <a:prstGeom prst="roundRect">
            <a:avLst>
              <a:gd name="adj" fmla="val 4000"/>
            </a:avLst>
          </a:prstGeom>
          <a:solidFill>
            <a:srgbClr val="FFFFFF"/>
          </a:solidFill>
          <a:ln w="19050">
            <a:solidFill>
              <a:srgbClr val="F2A900"/>
            </a:solidFill>
            <a:prstDash val="solid"/>
          </a:ln>
        </p:spPr>
      </p:sp>
      <p:sp>
        <p:nvSpPr>
          <p:cNvPr id="17" name="Shape 15"/>
          <p:cNvSpPr/>
          <p:nvPr/>
        </p:nvSpPr>
        <p:spPr>
          <a:xfrm>
            <a:off x="8046720" y="1508760"/>
            <a:ext cx="82296" cy="1828800"/>
          </a:xfrm>
          <a:prstGeom prst="rect">
            <a:avLst/>
          </a:prstGeom>
          <a:solidFill>
            <a:srgbClr val="F2A900"/>
          </a:solidFill>
          <a:ln w="12700">
            <a:solidFill>
              <a:srgbClr val="F2A900">
                <a:alpha val="0"/>
              </a:srgbClr>
            </a:solidFill>
            <a:prstDash val="solid"/>
          </a:ln>
        </p:spPr>
      </p:sp>
      <p:sp>
        <p:nvSpPr>
          <p:cNvPr id="18" name="Text 16"/>
          <p:cNvSpPr/>
          <p:nvPr/>
        </p:nvSpPr>
        <p:spPr>
          <a:xfrm>
            <a:off x="8275320" y="1645920"/>
            <a:ext cx="288036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Despliegue cloud</a:t>
            </a:r>
            <a:endParaRPr lang="en-US" sz="2400" dirty="0"/>
          </a:p>
        </p:txBody>
      </p:sp>
      <p:sp>
        <p:nvSpPr>
          <p:cNvPr id="19" name="Text 17"/>
          <p:cNvSpPr/>
          <p:nvPr/>
        </p:nvSpPr>
        <p:spPr>
          <a:xfrm>
            <a:off x="8275320" y="2075688"/>
            <a:ext cx="2880360" cy="117043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HTTPS, dominio, variables de entorno y copias.</a:t>
            </a:r>
            <a:endParaRPr lang="en-US" sz="2400" dirty="0"/>
          </a:p>
        </p:txBody>
      </p:sp>
      <p:sp>
        <p:nvSpPr>
          <p:cNvPr id="20" name="Shape 18"/>
          <p:cNvSpPr/>
          <p:nvPr/>
        </p:nvSpPr>
        <p:spPr>
          <a:xfrm>
            <a:off x="2514600" y="3886200"/>
            <a:ext cx="3383280" cy="1828800"/>
          </a:xfrm>
          <a:prstGeom prst="roundRect">
            <a:avLst>
              <a:gd name="adj" fmla="val 4000"/>
            </a:avLst>
          </a:prstGeom>
          <a:solidFill>
            <a:srgbClr val="FFFFFF"/>
          </a:solidFill>
          <a:ln w="19050">
            <a:solidFill>
              <a:srgbClr val="8B5CF6"/>
            </a:solidFill>
            <a:prstDash val="solid"/>
          </a:ln>
        </p:spPr>
      </p:sp>
      <p:sp>
        <p:nvSpPr>
          <p:cNvPr id="21" name="Shape 19"/>
          <p:cNvSpPr/>
          <p:nvPr/>
        </p:nvSpPr>
        <p:spPr>
          <a:xfrm>
            <a:off x="2514600" y="3886200"/>
            <a:ext cx="82296" cy="1828800"/>
          </a:xfrm>
          <a:prstGeom prst="rect">
            <a:avLst/>
          </a:prstGeom>
          <a:solidFill>
            <a:srgbClr val="8B5CF6"/>
          </a:solidFill>
          <a:ln w="12700">
            <a:solidFill>
              <a:srgbClr val="8B5CF6">
                <a:alpha val="0"/>
              </a:srgbClr>
            </a:solidFill>
            <a:prstDash val="solid"/>
          </a:ln>
        </p:spPr>
      </p:sp>
      <p:sp>
        <p:nvSpPr>
          <p:cNvPr id="22" name="Text 20"/>
          <p:cNvSpPr/>
          <p:nvPr/>
        </p:nvSpPr>
        <p:spPr>
          <a:xfrm>
            <a:off x="2743200" y="4023360"/>
            <a:ext cx="30175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Aplicación móvil</a:t>
            </a:r>
            <a:endParaRPr lang="en-US" sz="2400" dirty="0"/>
          </a:p>
        </p:txBody>
      </p:sp>
      <p:sp>
        <p:nvSpPr>
          <p:cNvPr id="23" name="Text 21"/>
          <p:cNvSpPr/>
          <p:nvPr/>
        </p:nvSpPr>
        <p:spPr>
          <a:xfrm>
            <a:off x="2743200" y="4453128"/>
            <a:ext cx="3017520" cy="117043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Nueva interfaz para mejorar la consulta diaria del paciente.</a:t>
            </a:r>
            <a:endParaRPr lang="en-US" sz="2400" dirty="0"/>
          </a:p>
        </p:txBody>
      </p:sp>
      <p:sp>
        <p:nvSpPr>
          <p:cNvPr id="24" name="Shape 22"/>
          <p:cNvSpPr/>
          <p:nvPr/>
        </p:nvSpPr>
        <p:spPr>
          <a:xfrm>
            <a:off x="6355080" y="3886200"/>
            <a:ext cx="3383280" cy="1828800"/>
          </a:xfrm>
          <a:prstGeom prst="roundRect">
            <a:avLst>
              <a:gd name="adj" fmla="val 4000"/>
            </a:avLst>
          </a:prstGeom>
          <a:solidFill>
            <a:srgbClr val="FFFFFF"/>
          </a:solidFill>
          <a:ln w="19050">
            <a:solidFill>
              <a:srgbClr val="D64B4B"/>
            </a:solidFill>
            <a:prstDash val="solid"/>
          </a:ln>
        </p:spPr>
      </p:sp>
      <p:sp>
        <p:nvSpPr>
          <p:cNvPr id="25" name="Shape 23"/>
          <p:cNvSpPr/>
          <p:nvPr/>
        </p:nvSpPr>
        <p:spPr>
          <a:xfrm>
            <a:off x="6355080" y="3886200"/>
            <a:ext cx="82296" cy="1828800"/>
          </a:xfrm>
          <a:prstGeom prst="rect">
            <a:avLst/>
          </a:prstGeom>
          <a:solidFill>
            <a:srgbClr val="D64B4B"/>
          </a:solidFill>
          <a:ln w="12700">
            <a:solidFill>
              <a:srgbClr val="D64B4B">
                <a:alpha val="0"/>
              </a:srgbClr>
            </a:solidFill>
            <a:prstDash val="solid"/>
          </a:ln>
        </p:spPr>
      </p:sp>
      <p:sp>
        <p:nvSpPr>
          <p:cNvPr id="26" name="Text 24"/>
          <p:cNvSpPr/>
          <p:nvPr/>
        </p:nvSpPr>
        <p:spPr>
          <a:xfrm>
            <a:off x="6583680" y="4023360"/>
            <a:ext cx="301752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Seguridad avanzada</a:t>
            </a:r>
            <a:endParaRPr lang="en-US" sz="2400" dirty="0"/>
          </a:p>
        </p:txBody>
      </p:sp>
      <p:sp>
        <p:nvSpPr>
          <p:cNvPr id="27" name="Text 25"/>
          <p:cNvSpPr/>
          <p:nvPr/>
        </p:nvSpPr>
        <p:spPr>
          <a:xfrm>
            <a:off x="6583680" y="4453128"/>
            <a:ext cx="3017520" cy="117043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Autenticación robusta, roles y cumplimiento normativo.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B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C"/>
          </a:solidFill>
          <a:ln w="12700">
            <a:solidFill>
              <a:srgbClr val="F4FBFC">
                <a:alpha val="0"/>
              </a:srgbClr>
            </a:solidFill>
            <a:prstDash val="solid"/>
          </a:ln>
        </p:spPr>
      </p:sp>
      <p:sp>
        <p:nvSpPr>
          <p:cNvPr id="3" name="Shape 1"/>
          <p:cNvSpPr/>
          <p:nvPr/>
        </p:nvSpPr>
        <p:spPr>
          <a:xfrm>
            <a:off x="0" y="0"/>
            <a:ext cx="12191695" cy="109728"/>
          </a:xfrm>
          <a:prstGeom prst="rect">
            <a:avLst/>
          </a:prstGeom>
          <a:solidFill>
            <a:srgbClr val="00A6B4"/>
          </a:solidFill>
          <a:ln w="12700">
            <a:solidFill>
              <a:srgbClr val="00A6B4">
                <a:alpha val="0"/>
              </a:srgbClr>
            </a:solidFill>
            <a:prstDash val="solid"/>
          </a:ln>
        </p:spPr>
      </p:sp>
      <p:sp>
        <p:nvSpPr>
          <p:cNvPr id="4" name="Shape 2"/>
          <p:cNvSpPr/>
          <p:nvPr/>
        </p:nvSpPr>
        <p:spPr>
          <a:xfrm>
            <a:off x="0" y="109728"/>
            <a:ext cx="146304" cy="6748272"/>
          </a:xfrm>
          <a:prstGeom prst="rect">
            <a:avLst/>
          </a:prstGeom>
          <a:solidFill>
            <a:srgbClr val="0B1F33"/>
          </a:solidFill>
          <a:ln w="12700">
            <a:solidFill>
              <a:srgbClr val="0B1F33">
                <a:alpha val="0"/>
              </a:srgbClr>
            </a:solidFill>
            <a:prstDash val="solid"/>
          </a:ln>
        </p:spPr>
      </p:sp>
      <p:sp>
        <p:nvSpPr>
          <p:cNvPr id="5" name="Text 3"/>
          <p:cNvSpPr/>
          <p:nvPr/>
        </p:nvSpPr>
        <p:spPr>
          <a:xfrm>
            <a:off x="594360" y="384048"/>
            <a:ext cx="10789920" cy="530352"/>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rial" pitchFamily="34" charset="0"/>
                <a:ea typeface="Arial" pitchFamily="34" charset="-122"/>
                <a:cs typeface="Arial" pitchFamily="34" charset="-120"/>
              </a:rPr>
              <a:t>11. Bibliografía y 12. Anexos</a:t>
            </a:r>
            <a:endParaRPr lang="en-US" sz="3600" dirty="0"/>
          </a:p>
        </p:txBody>
      </p:sp>
      <p:sp>
        <p:nvSpPr>
          <p:cNvPr id="6" name="Shape 4"/>
          <p:cNvSpPr/>
          <p:nvPr/>
        </p:nvSpPr>
        <p:spPr>
          <a:xfrm>
            <a:off x="594360" y="1024128"/>
            <a:ext cx="1051560" cy="73152"/>
          </a:xfrm>
          <a:prstGeom prst="rect">
            <a:avLst/>
          </a:prstGeom>
          <a:solidFill>
            <a:srgbClr val="00A6B4"/>
          </a:solidFill>
          <a:ln w="12700">
            <a:solidFill>
              <a:srgbClr val="00A6B4">
                <a:alpha val="0"/>
              </a:srgbClr>
            </a:solidFill>
            <a:prstDash val="solid"/>
          </a:ln>
        </p:spPr>
      </p:sp>
      <p:sp>
        <p:nvSpPr>
          <p:cNvPr id="7" name="Text 5"/>
          <p:cNvSpPr/>
          <p:nvPr/>
        </p:nvSpPr>
        <p:spPr>
          <a:xfrm>
            <a:off x="1783080" y="950976"/>
            <a:ext cx="9601200" cy="274320"/>
          </a:xfrm>
          <a:prstGeom prst="rect">
            <a:avLst/>
          </a:prstGeom>
          <a:noFill/>
          <a:ln/>
        </p:spPr>
        <p:txBody>
          <a:bodyPr wrap="square" lIns="0" tIns="0" rIns="0" bIns="0" rtlCol="0" anchor="ctr">
            <a:normAutofit/>
          </a:bodyPr>
          <a:lstStyle/>
          <a:p>
            <a:pPr indent="0" marL="0">
              <a:buNone/>
            </a:pPr>
            <a:r>
              <a:rPr lang="en-US" sz="2400" dirty="0">
                <a:solidFill>
                  <a:srgbClr val="5B6B7A"/>
                </a:solidFill>
                <a:latin typeface="Arial" pitchFamily="34" charset="0"/>
                <a:ea typeface="Arial" pitchFamily="34" charset="-122"/>
                <a:cs typeface="Arial" pitchFamily="34" charset="-120"/>
              </a:rPr>
              <a:t>Fuentes y documentación de apoyo</a:t>
            </a:r>
            <a:endParaRPr lang="en-US" sz="2400" dirty="0"/>
          </a:p>
        </p:txBody>
      </p:sp>
      <p:sp>
        <p:nvSpPr>
          <p:cNvPr id="8" name="Shape 6"/>
          <p:cNvSpPr/>
          <p:nvPr/>
        </p:nvSpPr>
        <p:spPr>
          <a:xfrm>
            <a:off x="822960" y="1417320"/>
            <a:ext cx="5029200" cy="4206240"/>
          </a:xfrm>
          <a:prstGeom prst="roundRect">
            <a:avLst>
              <a:gd name="adj" fmla="val 1739"/>
            </a:avLst>
          </a:prstGeom>
          <a:solidFill>
            <a:srgbClr val="FFFFFF"/>
          </a:solidFill>
          <a:ln w="19050">
            <a:solidFill>
              <a:srgbClr val="00A6B4"/>
            </a:solidFill>
            <a:prstDash val="solid"/>
          </a:ln>
        </p:spPr>
      </p:sp>
      <p:sp>
        <p:nvSpPr>
          <p:cNvPr id="9" name="Shape 7"/>
          <p:cNvSpPr/>
          <p:nvPr/>
        </p:nvSpPr>
        <p:spPr>
          <a:xfrm>
            <a:off x="822960" y="1417320"/>
            <a:ext cx="82296" cy="4206240"/>
          </a:xfrm>
          <a:prstGeom prst="rect">
            <a:avLst/>
          </a:prstGeom>
          <a:solidFill>
            <a:srgbClr val="00A6B4"/>
          </a:solidFill>
          <a:ln w="12700">
            <a:solidFill>
              <a:srgbClr val="00A6B4">
                <a:alpha val="0"/>
              </a:srgbClr>
            </a:solidFill>
            <a:prstDash val="solid"/>
          </a:ln>
        </p:spPr>
      </p:sp>
      <p:sp>
        <p:nvSpPr>
          <p:cNvPr id="10" name="Text 8"/>
          <p:cNvSpPr/>
          <p:nvPr/>
        </p:nvSpPr>
        <p:spPr>
          <a:xfrm>
            <a:off x="1051560" y="1554480"/>
            <a:ext cx="466344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Bibliografía</a:t>
            </a:r>
            <a:endParaRPr lang="en-US" sz="2400" dirty="0"/>
          </a:p>
        </p:txBody>
      </p:sp>
      <p:sp>
        <p:nvSpPr>
          <p:cNvPr id="11" name="Text 9"/>
          <p:cNvSpPr/>
          <p:nvPr/>
        </p:nvSpPr>
        <p:spPr>
          <a:xfrm>
            <a:off x="1051560" y="1984248"/>
            <a:ext cx="4663440" cy="354787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Mayo Clinic</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FastAPI Documentation</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SQLAlchemy Documentation</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Python Documentation</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MySQL Workbench</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W3Schools</a:t>
            </a:r>
            <a:endParaRPr lang="en-US" sz="2400" dirty="0"/>
          </a:p>
        </p:txBody>
      </p:sp>
      <p:sp>
        <p:nvSpPr>
          <p:cNvPr id="12" name="Shape 10"/>
          <p:cNvSpPr/>
          <p:nvPr/>
        </p:nvSpPr>
        <p:spPr>
          <a:xfrm>
            <a:off x="6309360" y="1417320"/>
            <a:ext cx="5029200" cy="4206240"/>
          </a:xfrm>
          <a:prstGeom prst="roundRect">
            <a:avLst>
              <a:gd name="adj" fmla="val 1739"/>
            </a:avLst>
          </a:prstGeom>
          <a:solidFill>
            <a:srgbClr val="FFFFFF"/>
          </a:solidFill>
          <a:ln w="19050">
            <a:solidFill>
              <a:srgbClr val="2CA58D"/>
            </a:solidFill>
            <a:prstDash val="solid"/>
          </a:ln>
        </p:spPr>
      </p:sp>
      <p:sp>
        <p:nvSpPr>
          <p:cNvPr id="13" name="Shape 11"/>
          <p:cNvSpPr/>
          <p:nvPr/>
        </p:nvSpPr>
        <p:spPr>
          <a:xfrm>
            <a:off x="6309360" y="1417320"/>
            <a:ext cx="82296" cy="4206240"/>
          </a:xfrm>
          <a:prstGeom prst="rect">
            <a:avLst/>
          </a:prstGeom>
          <a:solidFill>
            <a:srgbClr val="2CA58D"/>
          </a:solidFill>
          <a:ln w="12700">
            <a:solidFill>
              <a:srgbClr val="2CA58D">
                <a:alpha val="0"/>
              </a:srgbClr>
            </a:solidFill>
            <a:prstDash val="solid"/>
          </a:ln>
        </p:spPr>
      </p:sp>
      <p:sp>
        <p:nvSpPr>
          <p:cNvPr id="14" name="Text 12"/>
          <p:cNvSpPr/>
          <p:nvPr/>
        </p:nvSpPr>
        <p:spPr>
          <a:xfrm>
            <a:off x="6537960" y="1554480"/>
            <a:ext cx="4663440" cy="347472"/>
          </a:xfrm>
          <a:prstGeom prst="rect">
            <a:avLst/>
          </a:prstGeom>
          <a:noFill/>
          <a:ln/>
        </p:spPr>
        <p:txBody>
          <a:bodyPr wrap="square" lIns="0" tIns="0" rIns="0" bIns="0" rtlCol="0" anchor="ctr">
            <a:normAutofit/>
          </a:bodyPr>
          <a:lstStyle/>
          <a:p>
            <a:pPr indent="0" marL="0">
              <a:buNone/>
            </a:pPr>
            <a:r>
              <a:rPr lang="en-US" sz="2400" b="1" dirty="0">
                <a:solidFill>
                  <a:srgbClr val="0B1F33"/>
                </a:solidFill>
                <a:latin typeface="Arial" pitchFamily="34" charset="0"/>
                <a:ea typeface="Arial" pitchFamily="34" charset="-122"/>
                <a:cs typeface="Arial" pitchFamily="34" charset="-120"/>
              </a:rPr>
              <a:t>Anexos</a:t>
            </a:r>
            <a:endParaRPr lang="en-US" sz="2400" dirty="0"/>
          </a:p>
        </p:txBody>
      </p:sp>
      <p:sp>
        <p:nvSpPr>
          <p:cNvPr id="15" name="Text 13"/>
          <p:cNvSpPr/>
          <p:nvPr/>
        </p:nvSpPr>
        <p:spPr>
          <a:xfrm>
            <a:off x="6537960" y="1984248"/>
            <a:ext cx="4663440" cy="3547872"/>
          </a:xfrm>
          <a:prstGeom prst="rect">
            <a:avLst/>
          </a:prstGeom>
          <a:noFill/>
          <a:ln/>
        </p:spPr>
        <p:txBody>
          <a:bodyPr wrap="square" lIns="0" tIns="0" rIns="0" bIns="0" rtlCol="0" anchor="ctr">
            <a:normAutofit/>
          </a:bodyPr>
          <a:lstStyle/>
          <a:p>
            <a:pPr indent="0" marL="0">
              <a:buNone/>
            </a:pPr>
            <a:r>
              <a:rPr lang="en-US" sz="2400" dirty="0">
                <a:solidFill>
                  <a:srgbClr val="102A43"/>
                </a:solidFill>
                <a:latin typeface="Arial" pitchFamily="34" charset="0"/>
                <a:ea typeface="Arial" pitchFamily="34" charset="-122"/>
                <a:cs typeface="Arial" pitchFamily="34" charset="-120"/>
              </a:rPr>
              <a:t>Manual de instalación</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Manual de usuario</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Capturas y apoyo visual</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Documentación de despliegue</a:t>
            </a:r>
            <a:endParaRPr lang="en-US" sz="2400" dirty="0"/>
          </a:p>
          <a:p>
            <a:pPr indent="0" marL="0">
              <a:buNone/>
            </a:pPr>
            <a:r>
              <a:rPr lang="en-US" sz="2400" dirty="0">
                <a:solidFill>
                  <a:srgbClr val="102A43"/>
                </a:solidFill>
                <a:latin typeface="Arial" pitchFamily="34" charset="0"/>
                <a:ea typeface="Arial" pitchFamily="34" charset="-122"/>
                <a:cs typeface="Arial" pitchFamily="34" charset="-120"/>
              </a:rPr>
              <a:t>Pruebas funcionales</a:t>
            </a:r>
            <a:endParaRPr lang="en-US" sz="2400" dirty="0"/>
          </a:p>
        </p:txBody>
      </p:sp>
      <p:sp>
        <p:nvSpPr>
          <p:cNvPr id="16" name="Text 14"/>
          <p:cNvSpPr/>
          <p:nvPr/>
        </p:nvSpPr>
        <p:spPr>
          <a:xfrm>
            <a:off x="4480560" y="5806440"/>
            <a:ext cx="3291840" cy="502920"/>
          </a:xfrm>
          <a:prstGeom prst="rect">
            <a:avLst/>
          </a:prstGeom>
          <a:noFill/>
          <a:ln/>
        </p:spPr>
        <p:txBody>
          <a:bodyPr wrap="square" lIns="0" tIns="0" rIns="0" bIns="0" rtlCol="0" anchor="ctr"/>
          <a:lstStyle/>
          <a:p>
            <a:pPr algn="ctr" indent="0" marL="0">
              <a:buNone/>
            </a:pPr>
            <a:r>
              <a:rPr lang="en-US" sz="3400" b="1" dirty="0">
                <a:solidFill>
                  <a:srgbClr val="0B1F33"/>
                </a:solidFill>
                <a:latin typeface="Arial" pitchFamily="34" charset="0"/>
                <a:ea typeface="Arial" pitchFamily="34" charset="-122"/>
                <a:cs typeface="Arial" pitchFamily="34" charset="-120"/>
              </a:rPr>
              <a:t>Gracias</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CFGS Desarrollo de Aplicaciones Web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Bruxheal: Aplicación para el tratamiento y seguimiento de pacientes con bruxismo</dc:title>
  <dc:subject>Presentación TFG Bruxheal</dc:subject>
  <dc:creator>Francisco Bermúdez Fominaya</dc:creator>
  <cp:lastModifiedBy>Francisco Bermúdez Fominaya</cp:lastModifiedBy>
  <cp:revision>1</cp:revision>
  <dcterms:created xsi:type="dcterms:W3CDTF">2026-06-07T09:28:53Z</dcterms:created>
  <dcterms:modified xsi:type="dcterms:W3CDTF">2026-06-07T09:28:53Z</dcterms:modified>
</cp:coreProperties>
</file>